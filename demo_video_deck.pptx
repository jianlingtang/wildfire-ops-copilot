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F23"/>
          </a:solidFill>
          <a:ln>
            <a:noFill/>
          </a:ln>
        </p:spPr>
      </p:sp>
      <p:sp>
        <p:nvSpPr>
          <p:cNvPr id="2" name="Rect 2"/>
          <p:cNvSpPr/>
          <p:nvPr/>
        </p:nvSpPr>
        <p:spPr>
          <a:xfrm>
            <a:off x="0" y="0"/>
            <a:ext cx="12192000" cy="360000"/>
          </a:xfrm>
          <a:prstGeom prst="roundRect">
            <a:avLst/>
          </a:prstGeom>
          <a:solidFill>
            <a:srgbClr val="C9471A"/>
          </a:solidFill>
          <a:ln>
            <a:solidFill>
              <a:srgbClr val="C9471A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420000" y="50000"/>
            <a:ext cx="26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 b="1">
                <a:solidFill>
                  <a:srgbClr val="FFFFFF"/>
                </a:solidFill>
              </a:rPr>
              <a:t>0:00-0:15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0000" y="760000"/>
            <a:ext cx="10800000" cy="10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300" b="1">
                <a:solidFill>
                  <a:srgbClr val="FFFFFF"/>
                </a:solidFill>
              </a:rPr>
              <a:t>Wildfire response is now a real-time intelligence problem</a:t>
            </a:r>
          </a:p>
        </p:txBody>
      </p:sp>
      <p:sp>
        <p:nvSpPr>
          <p:cNvPr id="5" name="Rect 5"/>
          <p:cNvSpPr/>
          <p:nvPr/>
        </p:nvSpPr>
        <p:spPr>
          <a:xfrm>
            <a:off x="780000" y="214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050000" y="205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Australia Black Summer: 24M+ hectares burned</a:t>
            </a:r>
          </a:p>
        </p:txBody>
      </p:sp>
      <p:sp>
        <p:nvSpPr>
          <p:cNvPr id="7" name="Rect 7"/>
          <p:cNvSpPr/>
          <p:nvPr/>
        </p:nvSpPr>
        <p:spPr>
          <a:xfrm>
            <a:off x="780000" y="273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050000" y="264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California 2024: 8,110 wildfires, 1,077,711 acres burned</a:t>
            </a:r>
          </a:p>
        </p:txBody>
      </p:sp>
      <p:sp>
        <p:nvSpPr>
          <p:cNvPr id="9" name="Rect 9"/>
          <p:cNvSpPr/>
          <p:nvPr/>
        </p:nvSpPr>
        <p:spPr>
          <a:xfrm>
            <a:off x="780000" y="332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050000" y="323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Can operators move from signal to action faster?</a:t>
            </a:r>
          </a:p>
        </p:txBody>
      </p:sp>
      <p:sp>
        <p:nvSpPr>
          <p:cNvPr id="11" name="Rect 11"/>
          <p:cNvSpPr/>
          <p:nvPr/>
        </p:nvSpPr>
        <p:spPr>
          <a:xfrm>
            <a:off x="760000" y="5850000"/>
            <a:ext cx="10680000" cy="520000"/>
          </a:xfrm>
          <a:prstGeom prst="roundRect">
            <a:avLst/>
          </a:prstGeom>
          <a:solidFill>
            <a:srgbClr val="2D333A"/>
          </a:solidFill>
          <a:ln>
            <a:solidFill>
              <a:srgbClr val="2D333A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1000000" y="5940000"/>
            <a:ext cx="101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>
                <a:solidFill>
                  <a:srgbClr val="B8C0C7"/>
                </a:solidFill>
              </a:rPr>
              <a:t>Animation / recording cue: Montage: satellite fire map, smoke overlay, stat callouts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200000" y="6250000"/>
            <a:ext cx="5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200">
                <a:solidFill>
                  <a:srgbClr val="B8C0C7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F23"/>
          </a:solidFill>
          <a:ln>
            <a:noFill/>
          </a:ln>
        </p:spPr>
      </p:sp>
      <p:sp>
        <p:nvSpPr>
          <p:cNvPr id="2" name="Rect 2"/>
          <p:cNvSpPr/>
          <p:nvPr/>
        </p:nvSpPr>
        <p:spPr>
          <a:xfrm>
            <a:off x="0" y="0"/>
            <a:ext cx="12192000" cy="360000"/>
          </a:xfrm>
          <a:prstGeom prst="roundRect">
            <a:avLst/>
          </a:prstGeom>
          <a:solidFill>
            <a:srgbClr val="C9471A"/>
          </a:solidFill>
          <a:ln>
            <a:solidFill>
              <a:srgbClr val="C9471A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420000" y="50000"/>
            <a:ext cx="26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 b="1">
                <a:solidFill>
                  <a:srgbClr val="FFFFFF"/>
                </a:solidFill>
              </a:rPr>
              <a:t>0:15-0:35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0000" y="760000"/>
            <a:ext cx="10800000" cy="10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300" b="1">
                <a:solidFill>
                  <a:srgbClr val="FFFFFF"/>
                </a:solidFill>
              </a:rPr>
              <a:t>The risk window is getting tighter</a:t>
            </a:r>
          </a:p>
        </p:txBody>
      </p:sp>
      <p:sp>
        <p:nvSpPr>
          <p:cNvPr id="5" name="Rect 5"/>
          <p:cNvSpPr/>
          <p:nvPr/>
        </p:nvSpPr>
        <p:spPr>
          <a:xfrm>
            <a:off x="780000" y="214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050000" y="205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Hotter conditions dry fuels faster</a:t>
            </a:r>
          </a:p>
        </p:txBody>
      </p:sp>
      <p:sp>
        <p:nvSpPr>
          <p:cNvPr id="7" name="Rect 7"/>
          <p:cNvSpPr/>
          <p:nvPr/>
        </p:nvSpPr>
        <p:spPr>
          <a:xfrm>
            <a:off x="780000" y="273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050000" y="264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Drought and low humidity amplify spread</a:t>
            </a:r>
          </a:p>
        </p:txBody>
      </p:sp>
      <p:sp>
        <p:nvSpPr>
          <p:cNvPr id="9" name="Rect 9"/>
          <p:cNvSpPr/>
          <p:nvPr/>
        </p:nvSpPr>
        <p:spPr>
          <a:xfrm>
            <a:off x="780000" y="332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050000" y="323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Wind shifts can change priorities within minutes</a:t>
            </a:r>
          </a:p>
        </p:txBody>
      </p:sp>
      <p:sp>
        <p:nvSpPr>
          <p:cNvPr id="11" name="Rect 11"/>
          <p:cNvSpPr/>
          <p:nvPr/>
        </p:nvSpPr>
        <p:spPr>
          <a:xfrm>
            <a:off x="760000" y="5850000"/>
            <a:ext cx="10680000" cy="520000"/>
          </a:xfrm>
          <a:prstGeom prst="roundRect">
            <a:avLst/>
          </a:prstGeom>
          <a:solidFill>
            <a:srgbClr val="2D333A"/>
          </a:solidFill>
          <a:ln>
            <a:solidFill>
              <a:srgbClr val="2D333A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1000000" y="5940000"/>
            <a:ext cx="101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>
                <a:solidFill>
                  <a:srgbClr val="B8C0C7"/>
                </a:solidFill>
              </a:rPr>
              <a:t>Animation / recording cue: Animate heat, drought, wind icons one by one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200000" y="6250000"/>
            <a:ext cx="5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200">
                <a:solidFill>
                  <a:srgbClr val="B8C0C7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F23"/>
          </a:solidFill>
          <a:ln>
            <a:noFill/>
          </a:ln>
        </p:spPr>
      </p:sp>
      <p:sp>
        <p:nvSpPr>
          <p:cNvPr id="2" name="Rect 2"/>
          <p:cNvSpPr/>
          <p:nvPr/>
        </p:nvSpPr>
        <p:spPr>
          <a:xfrm>
            <a:off x="0" y="0"/>
            <a:ext cx="12192000" cy="360000"/>
          </a:xfrm>
          <a:prstGeom prst="roundRect">
            <a:avLst/>
          </a:prstGeom>
          <a:solidFill>
            <a:srgbClr val="C9471A"/>
          </a:solidFill>
          <a:ln>
            <a:solidFill>
              <a:srgbClr val="C9471A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420000" y="50000"/>
            <a:ext cx="26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 b="1">
                <a:solidFill>
                  <a:srgbClr val="FFFFFF"/>
                </a:solidFill>
              </a:rPr>
              <a:t>0:35-0:55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0000" y="760000"/>
            <a:ext cx="10800000" cy="10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300" b="1">
                <a:solidFill>
                  <a:srgbClr val="FFFFFF"/>
                </a:solidFill>
              </a:rPr>
              <a:t>Dispatchers face a data overload problem</a:t>
            </a:r>
          </a:p>
        </p:txBody>
      </p:sp>
      <p:sp>
        <p:nvSpPr>
          <p:cNvPr id="5" name="Rect 5"/>
          <p:cNvSpPr/>
          <p:nvPr/>
        </p:nvSpPr>
        <p:spPr>
          <a:xfrm>
            <a:off x="780000" y="214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050000" y="205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Many sources: hotspots, weather, warnings, maps, assets, SOPs</a:t>
            </a:r>
          </a:p>
        </p:txBody>
      </p:sp>
      <p:sp>
        <p:nvSpPr>
          <p:cNvPr id="7" name="Rect 7"/>
          <p:cNvSpPr/>
          <p:nvPr/>
        </p:nvSpPr>
        <p:spPr>
          <a:xfrm>
            <a:off x="780000" y="273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050000" y="264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Spatial data is hard to compare quickly</a:t>
            </a:r>
          </a:p>
        </p:txBody>
      </p:sp>
      <p:sp>
        <p:nvSpPr>
          <p:cNvPr id="9" name="Rect 9"/>
          <p:cNvSpPr/>
          <p:nvPr/>
        </p:nvSpPr>
        <p:spPr>
          <a:xfrm>
            <a:off x="780000" y="332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050000" y="323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Evidence changes continuously during an incident</a:t>
            </a:r>
          </a:p>
        </p:txBody>
      </p:sp>
      <p:sp>
        <p:nvSpPr>
          <p:cNvPr id="11" name="Rect 11"/>
          <p:cNvSpPr/>
          <p:nvPr/>
        </p:nvSpPr>
        <p:spPr>
          <a:xfrm>
            <a:off x="780000" y="391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1050000" y="382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Public messaging must be accurate and approved</a:t>
            </a:r>
          </a:p>
        </p:txBody>
      </p:sp>
      <p:sp>
        <p:nvSpPr>
          <p:cNvPr id="13" name="Rect 13"/>
          <p:cNvSpPr/>
          <p:nvPr/>
        </p:nvSpPr>
        <p:spPr>
          <a:xfrm>
            <a:off x="760000" y="5850000"/>
            <a:ext cx="10680000" cy="520000"/>
          </a:xfrm>
          <a:prstGeom prst="roundRect">
            <a:avLst/>
          </a:prstGeom>
          <a:solidFill>
            <a:srgbClr val="2D333A"/>
          </a:solidFill>
          <a:ln>
            <a:solidFill>
              <a:srgbClr val="2D333A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1000000" y="5940000"/>
            <a:ext cx="101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>
                <a:solidFill>
                  <a:srgbClr val="B8C0C7"/>
                </a:solidFill>
              </a:rPr>
              <a:t>Animation / recording cue: Split screen: scattered data vs. decision timeline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200000" y="6250000"/>
            <a:ext cx="5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200">
                <a:solidFill>
                  <a:srgbClr val="B8C0C7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F23"/>
          </a:solidFill>
          <a:ln>
            <a:noFill/>
          </a:ln>
        </p:spPr>
      </p:sp>
      <p:sp>
        <p:nvSpPr>
          <p:cNvPr id="2" name="Rect 2"/>
          <p:cNvSpPr/>
          <p:nvPr/>
        </p:nvSpPr>
        <p:spPr>
          <a:xfrm>
            <a:off x="0" y="0"/>
            <a:ext cx="12192000" cy="360000"/>
          </a:xfrm>
          <a:prstGeom prst="roundRect">
            <a:avLst/>
          </a:prstGeom>
          <a:solidFill>
            <a:srgbClr val="C9471A"/>
          </a:solidFill>
          <a:ln>
            <a:solidFill>
              <a:srgbClr val="C9471A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420000" y="50000"/>
            <a:ext cx="26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 b="1">
                <a:solidFill>
                  <a:srgbClr val="FFFFFF"/>
                </a:solidFill>
              </a:rPr>
              <a:t>0:55-1:12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0000" y="760000"/>
            <a:ext cx="10800000" cy="10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300" b="1">
                <a:solidFill>
                  <a:srgbClr val="FFFFFF"/>
                </a:solidFill>
              </a:rPr>
              <a:t>AI bridges raw signals and operational decisions</a:t>
            </a:r>
          </a:p>
        </p:txBody>
      </p:sp>
      <p:sp>
        <p:nvSpPr>
          <p:cNvPr id="5" name="Rect 5"/>
          <p:cNvSpPr/>
          <p:nvPr/>
        </p:nvSpPr>
        <p:spPr>
          <a:xfrm>
            <a:off x="780000" y="214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050000" y="205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Gather multi-source evidence</a:t>
            </a:r>
          </a:p>
        </p:txBody>
      </p:sp>
      <p:sp>
        <p:nvSpPr>
          <p:cNvPr id="7" name="Rect 7"/>
          <p:cNvSpPr/>
          <p:nvPr/>
        </p:nvSpPr>
        <p:spPr>
          <a:xfrm>
            <a:off x="780000" y="273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050000" y="264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Keep incident context across requests</a:t>
            </a:r>
          </a:p>
        </p:txBody>
      </p:sp>
      <p:sp>
        <p:nvSpPr>
          <p:cNvPr id="9" name="Rect 9"/>
          <p:cNvSpPr/>
          <p:nvPr/>
        </p:nvSpPr>
        <p:spPr>
          <a:xfrm>
            <a:off x="780000" y="332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050000" y="323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Explain risk drivers and uncertainty</a:t>
            </a:r>
          </a:p>
        </p:txBody>
      </p:sp>
      <p:sp>
        <p:nvSpPr>
          <p:cNvPr id="11" name="Rect 11"/>
          <p:cNvSpPr/>
          <p:nvPr/>
        </p:nvSpPr>
        <p:spPr>
          <a:xfrm>
            <a:off x="780000" y="391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1050000" y="382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Route reports, scenarios, and actions to the right workflow</a:t>
            </a:r>
          </a:p>
        </p:txBody>
      </p:sp>
      <p:sp>
        <p:nvSpPr>
          <p:cNvPr id="13" name="Rect 13"/>
          <p:cNvSpPr/>
          <p:nvPr/>
        </p:nvSpPr>
        <p:spPr>
          <a:xfrm>
            <a:off x="760000" y="5850000"/>
            <a:ext cx="10680000" cy="520000"/>
          </a:xfrm>
          <a:prstGeom prst="roundRect">
            <a:avLst/>
          </a:prstGeom>
          <a:solidFill>
            <a:srgbClr val="2D333A"/>
          </a:solidFill>
          <a:ln>
            <a:solidFill>
              <a:srgbClr val="2D333A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1000000" y="5940000"/>
            <a:ext cx="101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>
                <a:solidFill>
                  <a:srgbClr val="B8C0C7"/>
                </a:solidFill>
              </a:rPr>
              <a:t>Animation / recording cue: Many source nodes flow into one AI agent, then outputs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200000" y="6250000"/>
            <a:ext cx="5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200">
                <a:solidFill>
                  <a:srgbClr val="B8C0C7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F23"/>
          </a:solidFill>
          <a:ln>
            <a:noFill/>
          </a:ln>
        </p:spPr>
      </p:sp>
      <p:sp>
        <p:nvSpPr>
          <p:cNvPr id="2" name="Rect 2"/>
          <p:cNvSpPr/>
          <p:nvPr/>
        </p:nvSpPr>
        <p:spPr>
          <a:xfrm>
            <a:off x="0" y="0"/>
            <a:ext cx="12192000" cy="360000"/>
          </a:xfrm>
          <a:prstGeom prst="roundRect">
            <a:avLst/>
          </a:prstGeom>
          <a:solidFill>
            <a:srgbClr val="C9471A"/>
          </a:solidFill>
          <a:ln>
            <a:solidFill>
              <a:srgbClr val="C9471A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420000" y="50000"/>
            <a:ext cx="26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 b="1">
                <a:solidFill>
                  <a:srgbClr val="FFFFFF"/>
                </a:solidFill>
              </a:rPr>
              <a:t>1:12-1:28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0000" y="760000"/>
            <a:ext cx="10800000" cy="10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300" b="1">
                <a:solidFill>
                  <a:srgbClr val="FFFFFF"/>
                </a:solidFill>
              </a:rPr>
              <a:t>Wildfire Ops Copilot</a:t>
            </a:r>
          </a:p>
        </p:txBody>
      </p:sp>
      <p:sp>
        <p:nvSpPr>
          <p:cNvPr id="5" name="Rect 5"/>
          <p:cNvSpPr/>
          <p:nvPr/>
        </p:nvSpPr>
        <p:spPr>
          <a:xfrm>
            <a:off x="780000" y="214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050000" y="205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Emergency-operations dashboard + AI agent</a:t>
            </a:r>
          </a:p>
        </p:txBody>
      </p:sp>
      <p:sp>
        <p:nvSpPr>
          <p:cNvPr id="7" name="Rect 7"/>
          <p:cNvSpPr/>
          <p:nvPr/>
        </p:nvSpPr>
        <p:spPr>
          <a:xfrm>
            <a:off x="780000" y="273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050000" y="264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Monitor wildfire activity and focus an AOI</a:t>
            </a:r>
          </a:p>
        </p:txBody>
      </p:sp>
      <p:sp>
        <p:nvSpPr>
          <p:cNvPr id="9" name="Rect 9"/>
          <p:cNvSpPr/>
          <p:nvPr/>
        </p:nvSpPr>
        <p:spPr>
          <a:xfrm>
            <a:off x="780000" y="332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050000" y="323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Generate explainable recommendations and reports</a:t>
            </a:r>
          </a:p>
        </p:txBody>
      </p:sp>
      <p:sp>
        <p:nvSpPr>
          <p:cNvPr id="11" name="Rect 11"/>
          <p:cNvSpPr/>
          <p:nvPr/>
        </p:nvSpPr>
        <p:spPr>
          <a:xfrm>
            <a:off x="780000" y="391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1050000" y="382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Prepare approval-gated public communications</a:t>
            </a:r>
          </a:p>
        </p:txBody>
      </p:sp>
      <p:sp>
        <p:nvSpPr>
          <p:cNvPr id="13" name="Rect 13"/>
          <p:cNvSpPr/>
          <p:nvPr/>
        </p:nvSpPr>
        <p:spPr>
          <a:xfrm>
            <a:off x="760000" y="5850000"/>
            <a:ext cx="10680000" cy="520000"/>
          </a:xfrm>
          <a:prstGeom prst="roundRect">
            <a:avLst/>
          </a:prstGeom>
          <a:solidFill>
            <a:srgbClr val="2D333A"/>
          </a:solidFill>
          <a:ln>
            <a:solidFill>
              <a:srgbClr val="2D333A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1000000" y="5940000"/>
            <a:ext cx="101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>
                <a:solidFill>
                  <a:srgbClr val="B8C0C7"/>
                </a:solidFill>
              </a:rPr>
              <a:t>Animation / recording cue: Product name appears first, then goal statement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200000" y="6250000"/>
            <a:ext cx="5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200">
                <a:solidFill>
                  <a:srgbClr val="B8C0C7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F23"/>
          </a:solidFill>
          <a:ln>
            <a:noFill/>
          </a:ln>
        </p:spPr>
      </p:sp>
      <p:sp>
        <p:nvSpPr>
          <p:cNvPr id="2" name="Rect 2"/>
          <p:cNvSpPr/>
          <p:nvPr/>
        </p:nvSpPr>
        <p:spPr>
          <a:xfrm>
            <a:off x="0" y="0"/>
            <a:ext cx="12192000" cy="360000"/>
          </a:xfrm>
          <a:prstGeom prst="roundRect">
            <a:avLst/>
          </a:prstGeom>
          <a:solidFill>
            <a:srgbClr val="C9471A"/>
          </a:solidFill>
          <a:ln>
            <a:solidFill>
              <a:srgbClr val="C9471A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420000" y="50000"/>
            <a:ext cx="26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 b="1">
                <a:solidFill>
                  <a:srgbClr val="FFFFFF"/>
                </a:solidFill>
              </a:rPr>
              <a:t>1:28-1:52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0000" y="760000"/>
            <a:ext cx="10800000" cy="10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300" b="1">
                <a:solidFill>
                  <a:srgbClr val="FFFFFF"/>
                </a:solidFill>
              </a:rPr>
              <a:t>Top features</a:t>
            </a:r>
          </a:p>
        </p:txBody>
      </p:sp>
      <p:sp>
        <p:nvSpPr>
          <p:cNvPr id="5" name="Rect 5"/>
          <p:cNvSpPr/>
          <p:nvPr/>
        </p:nvSpPr>
        <p:spPr>
          <a:xfrm>
            <a:off x="780000" y="214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050000" y="205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Live hotspot map and AOI focus</a:t>
            </a:r>
          </a:p>
        </p:txBody>
      </p:sp>
      <p:sp>
        <p:nvSpPr>
          <p:cNvPr id="7" name="Rect 7"/>
          <p:cNvSpPr/>
          <p:nvPr/>
        </p:nvSpPr>
        <p:spPr>
          <a:xfrm>
            <a:off x="780000" y="273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050000" y="264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Agent analysis with risk scoring and reports</a:t>
            </a:r>
          </a:p>
        </p:txBody>
      </p:sp>
      <p:sp>
        <p:nvSpPr>
          <p:cNvPr id="9" name="Rect 9"/>
          <p:cNvSpPr/>
          <p:nvPr/>
        </p:nvSpPr>
        <p:spPr>
          <a:xfrm>
            <a:off x="780000" y="332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050000" y="323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What-if scenarios and inspection priorities</a:t>
            </a:r>
          </a:p>
        </p:txBody>
      </p:sp>
      <p:sp>
        <p:nvSpPr>
          <p:cNvPr id="11" name="Rect 11"/>
          <p:cNvSpPr/>
          <p:nvPr/>
        </p:nvSpPr>
        <p:spPr>
          <a:xfrm>
            <a:off x="780000" y="391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1050000" y="382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Approval-safe public advisory drafts</a:t>
            </a:r>
          </a:p>
        </p:txBody>
      </p:sp>
      <p:sp>
        <p:nvSpPr>
          <p:cNvPr id="13" name="Rect 13"/>
          <p:cNvSpPr/>
          <p:nvPr/>
        </p:nvSpPr>
        <p:spPr>
          <a:xfrm>
            <a:off x="760000" y="5850000"/>
            <a:ext cx="10680000" cy="520000"/>
          </a:xfrm>
          <a:prstGeom prst="roundRect">
            <a:avLst/>
          </a:prstGeom>
          <a:solidFill>
            <a:srgbClr val="2D333A"/>
          </a:solidFill>
          <a:ln>
            <a:solidFill>
              <a:srgbClr val="2D333A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1000000" y="5940000"/>
            <a:ext cx="101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>
                <a:solidFill>
                  <a:srgbClr val="B8C0C7"/>
                </a:solidFill>
              </a:rPr>
              <a:t>Animation / recording cue: Three feature cards animate in sequence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200000" y="6250000"/>
            <a:ext cx="5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200">
                <a:solidFill>
                  <a:srgbClr val="B8C0C7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F23"/>
          </a:solidFill>
          <a:ln>
            <a:noFill/>
          </a:ln>
        </p:spPr>
      </p:sp>
      <p:sp>
        <p:nvSpPr>
          <p:cNvPr id="2" name="Rect 2"/>
          <p:cNvSpPr/>
          <p:nvPr/>
        </p:nvSpPr>
        <p:spPr>
          <a:xfrm>
            <a:off x="0" y="0"/>
            <a:ext cx="12192000" cy="360000"/>
          </a:xfrm>
          <a:prstGeom prst="roundRect">
            <a:avLst/>
          </a:prstGeom>
          <a:solidFill>
            <a:srgbClr val="C9471A"/>
          </a:solidFill>
          <a:ln>
            <a:solidFill>
              <a:srgbClr val="C9471A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420000" y="50000"/>
            <a:ext cx="26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 b="1">
                <a:solidFill>
                  <a:srgbClr val="FFFFFF"/>
                </a:solidFill>
              </a:rPr>
              <a:t>1:52-2:08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0000" y="760000"/>
            <a:ext cx="10800000" cy="10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300" b="1">
                <a:solidFill>
                  <a:srgbClr val="FFFFFF"/>
                </a:solidFill>
              </a:rPr>
              <a:t>Built on GCP + Elastic</a:t>
            </a:r>
          </a:p>
        </p:txBody>
      </p:sp>
      <p:sp>
        <p:nvSpPr>
          <p:cNvPr id="5" name="Rect 5"/>
          <p:cNvSpPr/>
          <p:nvPr/>
        </p:nvSpPr>
        <p:spPr>
          <a:xfrm>
            <a:off x="780000" y="214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050000" y="205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Firebase Hosting frontend</a:t>
            </a:r>
          </a:p>
        </p:txBody>
      </p:sp>
      <p:sp>
        <p:nvSpPr>
          <p:cNvPr id="7" name="Rect 7"/>
          <p:cNvSpPr/>
          <p:nvPr/>
        </p:nvSpPr>
        <p:spPr>
          <a:xfrm>
            <a:off x="780000" y="273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050000" y="264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FastAPI backend on Google Cloud Run</a:t>
            </a:r>
          </a:p>
        </p:txBody>
      </p:sp>
      <p:sp>
        <p:nvSpPr>
          <p:cNvPr id="9" name="Rect 9"/>
          <p:cNvSpPr/>
          <p:nvPr/>
        </p:nvSpPr>
        <p:spPr>
          <a:xfrm>
            <a:off x="780000" y="332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050000" y="323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Gemini on Vertex AI through Google ADK</a:t>
            </a:r>
          </a:p>
        </p:txBody>
      </p:sp>
      <p:sp>
        <p:nvSpPr>
          <p:cNvPr id="11" name="Rect 11"/>
          <p:cNvSpPr/>
          <p:nvPr/>
        </p:nvSpPr>
        <p:spPr>
          <a:xfrm>
            <a:off x="780000" y="391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1050000" y="382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Firestore for runs, reports, alerts, approvals, trace events</a:t>
            </a:r>
          </a:p>
        </p:txBody>
      </p:sp>
      <p:sp>
        <p:nvSpPr>
          <p:cNvPr id="13" name="Rect 13"/>
          <p:cNvSpPr/>
          <p:nvPr/>
        </p:nvSpPr>
        <p:spPr>
          <a:xfrm>
            <a:off x="780000" y="450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1050000" y="441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Elastic Agent Builder MCP for evidence retrieval</a:t>
            </a:r>
          </a:p>
        </p:txBody>
      </p:sp>
      <p:sp>
        <p:nvSpPr>
          <p:cNvPr id="15" name="Rect 15"/>
          <p:cNvSpPr/>
          <p:nvPr/>
        </p:nvSpPr>
        <p:spPr>
          <a:xfrm>
            <a:off x="760000" y="5850000"/>
            <a:ext cx="10680000" cy="520000"/>
          </a:xfrm>
          <a:prstGeom prst="roundRect">
            <a:avLst/>
          </a:prstGeom>
          <a:solidFill>
            <a:srgbClr val="2D333A"/>
          </a:solidFill>
          <a:ln>
            <a:solidFill>
              <a:srgbClr val="2D333A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1000000" y="5940000"/>
            <a:ext cx="101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>
                <a:solidFill>
                  <a:srgbClr val="B8C0C7"/>
                </a:solidFill>
              </a:rPr>
              <a:t>Animation / recording cue: Icon cascade: Firebase, Cloud Run, FastAPI, Vertex AI, ADK, Firestore, Elastic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200000" y="6250000"/>
            <a:ext cx="5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200">
                <a:solidFill>
                  <a:srgbClr val="B8C0C7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F23"/>
          </a:solidFill>
          <a:ln>
            <a:noFill/>
          </a:ln>
        </p:spPr>
      </p:sp>
      <p:sp>
        <p:nvSpPr>
          <p:cNvPr id="2" name="Rect 2"/>
          <p:cNvSpPr/>
          <p:nvPr/>
        </p:nvSpPr>
        <p:spPr>
          <a:xfrm>
            <a:off x="0" y="0"/>
            <a:ext cx="12192000" cy="360000"/>
          </a:xfrm>
          <a:prstGeom prst="roundRect">
            <a:avLst/>
          </a:prstGeom>
          <a:solidFill>
            <a:srgbClr val="C9471A"/>
          </a:solidFill>
          <a:ln>
            <a:solidFill>
              <a:srgbClr val="C9471A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420000" y="50000"/>
            <a:ext cx="26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 b="1">
                <a:solidFill>
                  <a:srgbClr val="FFFFFF"/>
                </a:solidFill>
              </a:rPr>
              <a:t>2:08-2:24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0000" y="760000"/>
            <a:ext cx="10800000" cy="10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300" b="1">
                <a:solidFill>
                  <a:srgbClr val="FFFFFF"/>
                </a:solidFill>
              </a:rPr>
              <a:t>Why Elastic MCP matters</a:t>
            </a:r>
          </a:p>
        </p:txBody>
      </p:sp>
      <p:sp>
        <p:nvSpPr>
          <p:cNvPr id="5" name="Rect 5"/>
          <p:cNvSpPr/>
          <p:nvPr/>
        </p:nvSpPr>
        <p:spPr>
          <a:xfrm>
            <a:off x="780000" y="214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050000" y="205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Searches curated wildfire knowledge</a:t>
            </a:r>
          </a:p>
        </p:txBody>
      </p:sp>
      <p:sp>
        <p:nvSpPr>
          <p:cNvPr id="7" name="Rect 7"/>
          <p:cNvSpPr/>
          <p:nvPr/>
        </p:nvSpPr>
        <p:spPr>
          <a:xfrm>
            <a:off x="780000" y="273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050000" y="264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Retrieves SOPs, warning guidance, historical incidents, templates, reliability notes</a:t>
            </a:r>
          </a:p>
        </p:txBody>
      </p:sp>
      <p:sp>
        <p:nvSpPr>
          <p:cNvPr id="9" name="Rect 9"/>
          <p:cNvSpPr/>
          <p:nvPr/>
        </p:nvSpPr>
        <p:spPr>
          <a:xfrm>
            <a:off x="780000" y="332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050000" y="323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Preserves evidence in reports</a:t>
            </a:r>
          </a:p>
        </p:txBody>
      </p:sp>
      <p:sp>
        <p:nvSpPr>
          <p:cNvPr id="11" name="Rect 11"/>
          <p:cNvSpPr/>
          <p:nvPr/>
        </p:nvSpPr>
        <p:spPr>
          <a:xfrm>
            <a:off x="780000" y="391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1050000" y="382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Deterministic fallback keeps the demo stable</a:t>
            </a:r>
          </a:p>
        </p:txBody>
      </p:sp>
      <p:sp>
        <p:nvSpPr>
          <p:cNvPr id="13" name="Rect 13"/>
          <p:cNvSpPr/>
          <p:nvPr/>
        </p:nvSpPr>
        <p:spPr>
          <a:xfrm>
            <a:off x="760000" y="5850000"/>
            <a:ext cx="10680000" cy="520000"/>
          </a:xfrm>
          <a:prstGeom prst="roundRect">
            <a:avLst/>
          </a:prstGeom>
          <a:solidFill>
            <a:srgbClr val="2D333A"/>
          </a:solidFill>
          <a:ln>
            <a:solidFill>
              <a:srgbClr val="2D333A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1000000" y="5940000"/>
            <a:ext cx="101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>
                <a:solidFill>
                  <a:srgbClr val="B8C0C7"/>
                </a:solidFill>
              </a:rPr>
              <a:t>Animation / recording cue: Zoom into knowledge index: SOPs, incidents, templates, reliability notes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200000" y="6250000"/>
            <a:ext cx="5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200">
                <a:solidFill>
                  <a:srgbClr val="B8C0C7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F23"/>
          </a:solidFill>
          <a:ln>
            <a:noFill/>
          </a:ln>
        </p:spPr>
      </p:sp>
      <p:sp>
        <p:nvSpPr>
          <p:cNvPr id="2" name="Rect 2"/>
          <p:cNvSpPr/>
          <p:nvPr/>
        </p:nvSpPr>
        <p:spPr>
          <a:xfrm>
            <a:off x="0" y="0"/>
            <a:ext cx="12192000" cy="360000"/>
          </a:xfrm>
          <a:prstGeom prst="roundRect">
            <a:avLst/>
          </a:prstGeom>
          <a:solidFill>
            <a:srgbClr val="C9471A"/>
          </a:solidFill>
          <a:ln>
            <a:solidFill>
              <a:srgbClr val="C9471A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420000" y="50000"/>
            <a:ext cx="26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 b="1">
                <a:solidFill>
                  <a:srgbClr val="FFFFFF"/>
                </a:solidFill>
              </a:rPr>
              <a:t>2:24-2:53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0000" y="760000"/>
            <a:ext cx="10800000" cy="10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300" b="1">
                <a:solidFill>
                  <a:srgbClr val="FFFFFF"/>
                </a:solidFill>
              </a:rPr>
              <a:t>Demo path</a:t>
            </a:r>
          </a:p>
        </p:txBody>
      </p:sp>
      <p:sp>
        <p:nvSpPr>
          <p:cNvPr id="5" name="Rect 5"/>
          <p:cNvSpPr/>
          <p:nvPr/>
        </p:nvSpPr>
        <p:spPr>
          <a:xfrm>
            <a:off x="780000" y="214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050000" y="205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Focus live Australian hotspot AOI</a:t>
            </a:r>
          </a:p>
        </p:txBody>
      </p:sp>
      <p:sp>
        <p:nvSpPr>
          <p:cNvPr id="7" name="Rect 7"/>
          <p:cNvSpPr/>
          <p:nvPr/>
        </p:nvSpPr>
        <p:spPr>
          <a:xfrm>
            <a:off x="780000" y="273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050000" y="264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Ask: Analyze this region and generate today's report</a:t>
            </a:r>
          </a:p>
        </p:txBody>
      </p:sp>
      <p:sp>
        <p:nvSpPr>
          <p:cNvPr id="9" name="Rect 9"/>
          <p:cNvSpPr/>
          <p:nvPr/>
        </p:nvSpPr>
        <p:spPr>
          <a:xfrm>
            <a:off x="780000" y="332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050000" y="323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Review agent trace, risk score, and report</a:t>
            </a:r>
          </a:p>
        </p:txBody>
      </p:sp>
      <p:sp>
        <p:nvSpPr>
          <p:cNvPr id="11" name="Rect 11"/>
          <p:cNvSpPr/>
          <p:nvPr/>
        </p:nvSpPr>
        <p:spPr>
          <a:xfrm>
            <a:off x="780000" y="391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1050000" y="382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Ask wind +30% and humidity -10% what-if</a:t>
            </a:r>
          </a:p>
        </p:txBody>
      </p:sp>
      <p:sp>
        <p:nvSpPr>
          <p:cNvPr id="13" name="Rect 13"/>
          <p:cNvSpPr/>
          <p:nvPr/>
        </p:nvSpPr>
        <p:spPr>
          <a:xfrm>
            <a:off x="780000" y="450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1050000" y="441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Draft public advisory for human approval</a:t>
            </a:r>
          </a:p>
        </p:txBody>
      </p:sp>
      <p:sp>
        <p:nvSpPr>
          <p:cNvPr id="15" name="Rect 15"/>
          <p:cNvSpPr/>
          <p:nvPr/>
        </p:nvSpPr>
        <p:spPr>
          <a:xfrm>
            <a:off x="760000" y="5850000"/>
            <a:ext cx="10680000" cy="520000"/>
          </a:xfrm>
          <a:prstGeom prst="roundRect">
            <a:avLst/>
          </a:prstGeom>
          <a:solidFill>
            <a:srgbClr val="2D333A"/>
          </a:solidFill>
          <a:ln>
            <a:solidFill>
              <a:srgbClr val="2D333A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1000000" y="5940000"/>
            <a:ext cx="101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>
                <a:solidFill>
                  <a:srgbClr val="B8C0C7"/>
                </a:solidFill>
              </a:rPr>
              <a:t>Animation / recording cue: Use hosted dashboard screen recording; keep cursor movement slow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200000" y="6250000"/>
            <a:ext cx="5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200">
                <a:solidFill>
                  <a:srgbClr val="B8C0C7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F23"/>
          </a:solidFill>
          <a:ln>
            <a:noFill/>
          </a:ln>
        </p:spPr>
      </p:sp>
      <p:sp>
        <p:nvSpPr>
          <p:cNvPr id="2" name="Rect 2"/>
          <p:cNvSpPr/>
          <p:nvPr/>
        </p:nvSpPr>
        <p:spPr>
          <a:xfrm>
            <a:off x="0" y="0"/>
            <a:ext cx="12192000" cy="360000"/>
          </a:xfrm>
          <a:prstGeom prst="roundRect">
            <a:avLst/>
          </a:prstGeom>
          <a:solidFill>
            <a:srgbClr val="C9471A"/>
          </a:solidFill>
          <a:ln>
            <a:solidFill>
              <a:srgbClr val="C9471A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420000" y="50000"/>
            <a:ext cx="26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 b="1">
                <a:solidFill>
                  <a:srgbClr val="FFFFFF"/>
                </a:solidFill>
              </a:rPr>
              <a:t>2:53-3:00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0000" y="760000"/>
            <a:ext cx="10800000" cy="10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300" b="1">
                <a:solidFill>
                  <a:srgbClr val="FFFFFF"/>
                </a:solidFill>
              </a:rPr>
              <a:t>From scattered signals to explainable action</a:t>
            </a:r>
          </a:p>
        </p:txBody>
      </p:sp>
      <p:sp>
        <p:nvSpPr>
          <p:cNvPr id="5" name="Rect 5"/>
          <p:cNvSpPr/>
          <p:nvPr/>
        </p:nvSpPr>
        <p:spPr>
          <a:xfrm>
            <a:off x="780000" y="214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050000" y="205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Faster situational awareness</a:t>
            </a:r>
          </a:p>
        </p:txBody>
      </p:sp>
      <p:sp>
        <p:nvSpPr>
          <p:cNvPr id="7" name="Rect 7"/>
          <p:cNvSpPr/>
          <p:nvPr/>
        </p:nvSpPr>
        <p:spPr>
          <a:xfrm>
            <a:off x="780000" y="273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050000" y="264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Clearer risk reasoning</a:t>
            </a:r>
          </a:p>
        </p:txBody>
      </p:sp>
      <p:sp>
        <p:nvSpPr>
          <p:cNvPr id="9" name="Rect 9"/>
          <p:cNvSpPr/>
          <p:nvPr/>
        </p:nvSpPr>
        <p:spPr>
          <a:xfrm>
            <a:off x="780000" y="3320000"/>
            <a:ext cx="120000" cy="120000"/>
          </a:xfrm>
          <a:prstGeom prst="roundRect">
            <a:avLst/>
          </a:prstGeom>
          <a:solidFill>
            <a:srgbClr val="F2B544"/>
          </a:solidFill>
          <a:ln>
            <a:solidFill>
              <a:srgbClr val="F2B544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050000" y="3230000"/>
            <a:ext cx="99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F4F1EA"/>
                </a:solidFill>
              </a:rPr>
              <a:t>Human-approved decisions</a:t>
            </a:r>
          </a:p>
        </p:txBody>
      </p:sp>
      <p:sp>
        <p:nvSpPr>
          <p:cNvPr id="11" name="Rect 11"/>
          <p:cNvSpPr/>
          <p:nvPr/>
        </p:nvSpPr>
        <p:spPr>
          <a:xfrm>
            <a:off x="760000" y="5850000"/>
            <a:ext cx="10680000" cy="520000"/>
          </a:xfrm>
          <a:prstGeom prst="roundRect">
            <a:avLst/>
          </a:prstGeom>
          <a:solidFill>
            <a:srgbClr val="2D333A"/>
          </a:solidFill>
          <a:ln>
            <a:solidFill>
              <a:srgbClr val="2D333A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1000000" y="5940000"/>
            <a:ext cx="101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>
                <a:solidFill>
                  <a:srgbClr val="B8C0C7"/>
                </a:solidFill>
              </a:rPr>
              <a:t>Animation / recording cue: Final product screen with tagline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200000" y="6250000"/>
            <a:ext cx="5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200">
                <a:solidFill>
                  <a:srgbClr val="B8C0C7"/>
                </a:solidFill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ldfire Ops">
  <a:themeElements>
    <a:clrScheme name="Wildfire">
      <a:dk1>
        <a:srgbClr val="1B1F23"/>
      </a:dk1>
      <a:lt1>
        <a:srgbClr val="FFFFFF"/>
      </a:lt1>
      <a:dk2>
        <a:srgbClr val="2D333A"/>
      </a:dk2>
      <a:lt2>
        <a:srgbClr val="F4F1EA"/>
      </a:lt2>
      <a:accent1>
        <a:srgbClr val="C9471A"/>
      </a:accent1>
      <a:accent2>
        <a:srgbClr val="F2B544"/>
      </a:accent2>
      <a:accent3>
        <a:srgbClr val="3BA776"/>
      </a:accent3>
      <a:accent4>
        <a:srgbClr val="4D8DFF"/>
      </a:accent4>
      <a:accent5>
        <a:srgbClr val="8E6AD8"/>
      </a:accent5>
      <a:accent6>
        <a:srgbClr val="E56B6F"/>
      </a:accent6>
      <a:hlink>
        <a:srgbClr val="4D8DFF"/>
      </a:hlink>
      <a:folHlink>
        <a:srgbClr val="8E6AD8"/>
      </a:folHlink>
    </a:clrScheme>
    <a:fontScheme name="Office">
      <a:majorFont>
        <a:latin typeface="Aptos Display"/>
      </a:majorFont>
      <a:minorFont>
        <a:latin typeface="Aptos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10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Wildfire Ops Copilot Demo Video Deck</dc:title>
  <dc:creator>Codex</dc:creator>
  <cp:lastModifiedBy>Codex</cp:lastModifiedBy>
  <dcterms:created xsi:type="dcterms:W3CDTF">2026-06-11T16:00:25+00:00</dcterms:created>
  <dcterms:modified xsi:type="dcterms:W3CDTF">2026-06-11T16:00:25+00:00</dcterms:modified>
</cp:coreProperties>
</file>