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 type="wide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bg_fire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bg_map.pn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bg_dashboard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bg_agent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bg_fire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bg_dashboard.pn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firebase.png"/><Relationship Id="rId3" Type="http://schemas.openxmlformats.org/officeDocument/2006/relationships/image" Target="../media/cloudrun.png"/><Relationship Id="rId4" Type="http://schemas.openxmlformats.org/officeDocument/2006/relationships/image" Target="../media/google.png"/><Relationship Id="rId5" Type="http://schemas.openxmlformats.org/officeDocument/2006/relationships/image" Target="../media/google.png"/><Relationship Id="rId6" Type="http://schemas.openxmlformats.org/officeDocument/2006/relationships/image" Target="../media/elastic.pn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elastic.png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bg_dashboard.png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bg_fire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>
              <a:alpha val="27000"/>
            </a:srgbClr>
          </a:solidFill>
          <a:ln>
            <a:noFill/>
          </a:ln>
        </p:spPr>
      </p:sp>
      <p:sp>
        <p:nvSpPr>
          <p:cNvPr id="4" name="Shape 4"/>
          <p:cNvSpPr/>
          <p:nvPr/>
        </p:nvSpPr>
        <p:spPr>
          <a:xfrm>
            <a:off x="0" y="0"/>
            <a:ext cx="12192000" cy="360000"/>
          </a:xfrm>
          <a:prstGeom prst="rect">
            <a:avLst/>
          </a:prstGeom>
          <a:solidFill>
            <a:srgbClr val="C9471A">
              <a:alpha val="100000"/>
            </a:srgbClr>
          </a:solidFill>
          <a:ln>
            <a:noFill/>
          </a:ln>
        </p:spPr>
      </p:sp>
      <p:sp>
        <p:nvSpPr>
          <p:cNvPr id="5" name="Text 5"/>
          <p:cNvSpPr txBox="1"/>
          <p:nvPr/>
        </p:nvSpPr>
        <p:spPr>
          <a:xfrm>
            <a:off x="420000" y="62000"/>
            <a:ext cx="1100000" cy="22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400" b="1">
                <a:solidFill>
                  <a:srgbClr val="FFFFFF"/>
                </a:solidFill>
              </a:rPr>
              <a:t>0:00</a:t>
            </a:r>
          </a:p>
        </p:txBody>
      </p:sp>
      <p:sp>
        <p:nvSpPr>
          <p:cNvPr id="6" name="Text 6"/>
          <p:cNvSpPr txBox="1"/>
          <p:nvPr/>
        </p:nvSpPr>
        <p:spPr>
          <a:xfrm>
            <a:off x="620000" y="760000"/>
            <a:ext cx="11000000" cy="105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3600" b="1">
                <a:solidFill>
                  <a:srgbClr val="FFFFFF"/>
                </a:solidFill>
              </a:rPr>
              <a:t>Wildfire decisions now happen in minutes</a:t>
            </a:r>
          </a:p>
        </p:txBody>
      </p:sp>
      <p:sp>
        <p:nvSpPr>
          <p:cNvPr id="7" name="Shape 7"/>
          <p:cNvSpPr/>
          <p:nvPr/>
        </p:nvSpPr>
        <p:spPr>
          <a:xfrm>
            <a:off x="770000" y="2650000"/>
            <a:ext cx="3330000" cy="620000"/>
          </a:xfrm>
          <a:prstGeom prst="roundRect">
            <a:avLst/>
          </a:prstGeom>
          <a:solidFill>
            <a:srgbClr val="F4F1EA">
              <a:alpha val="92000"/>
            </a:srgbClr>
          </a:solidFill>
          <a:ln>
            <a:noFill/>
          </a:ln>
        </p:spPr>
      </p:sp>
      <p:sp>
        <p:nvSpPr>
          <p:cNvPr id="8" name="Text 8"/>
          <p:cNvSpPr txBox="1"/>
          <p:nvPr/>
        </p:nvSpPr>
        <p:spPr>
          <a:xfrm>
            <a:off x="1010000" y="2815000"/>
            <a:ext cx="2860000" cy="24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2100" b="1">
                <a:solidFill>
                  <a:srgbClr val="1B1F23"/>
                </a:solidFill>
              </a:rPr>
              <a:t>24M+ ha burned</a:t>
            </a:r>
          </a:p>
        </p:txBody>
      </p:sp>
      <p:sp>
        <p:nvSpPr>
          <p:cNvPr id="9" name="Shape 9"/>
          <p:cNvSpPr/>
          <p:nvPr/>
        </p:nvSpPr>
        <p:spPr>
          <a:xfrm>
            <a:off x="770000" y="3470000"/>
            <a:ext cx="3330000" cy="620000"/>
          </a:xfrm>
          <a:prstGeom prst="roundRect">
            <a:avLst/>
          </a:prstGeom>
          <a:solidFill>
            <a:srgbClr val="F4F1EA">
              <a:alpha val="92000"/>
            </a:srgbClr>
          </a:solidFill>
          <a:ln>
            <a:noFill/>
          </a:ln>
        </p:spPr>
      </p:sp>
      <p:sp>
        <p:nvSpPr>
          <p:cNvPr id="10" name="Text 10"/>
          <p:cNvSpPr txBox="1"/>
          <p:nvPr/>
        </p:nvSpPr>
        <p:spPr>
          <a:xfrm>
            <a:off x="1010000" y="3635000"/>
            <a:ext cx="2860000" cy="24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2100" b="1">
                <a:solidFill>
                  <a:srgbClr val="1B1F23"/>
                </a:solidFill>
              </a:rPr>
              <a:t>8,110 CA fires in 2024</a:t>
            </a:r>
          </a:p>
        </p:txBody>
      </p:sp>
      <p:sp>
        <p:nvSpPr>
          <p:cNvPr id="11" name="Text 11"/>
          <p:cNvSpPr txBox="1"/>
          <p:nvPr/>
        </p:nvSpPr>
        <p:spPr>
          <a:xfrm>
            <a:off x="11030000" y="6260000"/>
            <a:ext cx="600000" cy="22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r"/>
            <a:r>
              <a:rPr lang="en-US" sz="1100">
                <a:solidFill>
                  <a:srgbClr val="B8C0C7"/>
                </a:solidFill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>
              <a:alpha val="27000"/>
            </a:srgbClr>
          </a:solidFill>
          <a:ln>
            <a:noFill/>
          </a:ln>
        </p:spPr>
      </p:sp>
      <p:sp>
        <p:nvSpPr>
          <p:cNvPr id="4" name="Shape 4"/>
          <p:cNvSpPr/>
          <p:nvPr/>
        </p:nvSpPr>
        <p:spPr>
          <a:xfrm>
            <a:off x="0" y="0"/>
            <a:ext cx="12192000" cy="360000"/>
          </a:xfrm>
          <a:prstGeom prst="rect">
            <a:avLst/>
          </a:prstGeom>
          <a:solidFill>
            <a:srgbClr val="C9471A">
              <a:alpha val="100000"/>
            </a:srgbClr>
          </a:solidFill>
          <a:ln>
            <a:noFill/>
          </a:ln>
        </p:spPr>
      </p:sp>
      <p:sp>
        <p:nvSpPr>
          <p:cNvPr id="5" name="Text 5"/>
          <p:cNvSpPr txBox="1"/>
          <p:nvPr/>
        </p:nvSpPr>
        <p:spPr>
          <a:xfrm>
            <a:off x="420000" y="62000"/>
            <a:ext cx="1100000" cy="22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400" b="1">
                <a:solidFill>
                  <a:srgbClr val="FFFFFF"/>
                </a:solidFill>
              </a:rPr>
              <a:t>0:15</a:t>
            </a:r>
          </a:p>
        </p:txBody>
      </p:sp>
      <p:sp>
        <p:nvSpPr>
          <p:cNvPr id="6" name="Text 6"/>
          <p:cNvSpPr txBox="1"/>
          <p:nvPr/>
        </p:nvSpPr>
        <p:spPr>
          <a:xfrm>
            <a:off x="620000" y="760000"/>
            <a:ext cx="11000000" cy="105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3600" b="1">
                <a:solidFill>
                  <a:srgbClr val="FFFFFF"/>
                </a:solidFill>
              </a:rPr>
              <a:t>Climate pressure</a:t>
            </a:r>
          </a:p>
        </p:txBody>
      </p:sp>
      <p:sp>
        <p:nvSpPr>
          <p:cNvPr id="7" name="Shape 7"/>
          <p:cNvSpPr/>
          <p:nvPr/>
        </p:nvSpPr>
        <p:spPr>
          <a:xfrm>
            <a:off x="770000" y="2650000"/>
            <a:ext cx="3330000" cy="620000"/>
          </a:xfrm>
          <a:prstGeom prst="roundRect">
            <a:avLst/>
          </a:prstGeom>
          <a:solidFill>
            <a:srgbClr val="F4F1EA">
              <a:alpha val="92000"/>
            </a:srgbClr>
          </a:solidFill>
          <a:ln>
            <a:noFill/>
          </a:ln>
        </p:spPr>
      </p:sp>
      <p:sp>
        <p:nvSpPr>
          <p:cNvPr id="8" name="Text 8"/>
          <p:cNvSpPr txBox="1"/>
          <p:nvPr/>
        </p:nvSpPr>
        <p:spPr>
          <a:xfrm>
            <a:off x="1010000" y="2815000"/>
            <a:ext cx="2860000" cy="24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2100" b="1">
                <a:solidFill>
                  <a:srgbClr val="1B1F23"/>
                </a:solidFill>
              </a:rPr>
              <a:t>Hotter</a:t>
            </a:r>
          </a:p>
        </p:txBody>
      </p:sp>
      <p:sp>
        <p:nvSpPr>
          <p:cNvPr id="9" name="Shape 9"/>
          <p:cNvSpPr/>
          <p:nvPr/>
        </p:nvSpPr>
        <p:spPr>
          <a:xfrm>
            <a:off x="770000" y="3470000"/>
            <a:ext cx="3330000" cy="620000"/>
          </a:xfrm>
          <a:prstGeom prst="roundRect">
            <a:avLst/>
          </a:prstGeom>
          <a:solidFill>
            <a:srgbClr val="F4F1EA">
              <a:alpha val="92000"/>
            </a:srgbClr>
          </a:solidFill>
          <a:ln>
            <a:noFill/>
          </a:ln>
        </p:spPr>
      </p:sp>
      <p:sp>
        <p:nvSpPr>
          <p:cNvPr id="10" name="Text 10"/>
          <p:cNvSpPr txBox="1"/>
          <p:nvPr/>
        </p:nvSpPr>
        <p:spPr>
          <a:xfrm>
            <a:off x="1010000" y="3635000"/>
            <a:ext cx="2860000" cy="24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2100" b="1">
                <a:solidFill>
                  <a:srgbClr val="1B1F23"/>
                </a:solidFill>
              </a:rPr>
              <a:t>Drier</a:t>
            </a:r>
          </a:p>
        </p:txBody>
      </p:sp>
      <p:sp>
        <p:nvSpPr>
          <p:cNvPr id="11" name="Shape 11"/>
          <p:cNvSpPr/>
          <p:nvPr/>
        </p:nvSpPr>
        <p:spPr>
          <a:xfrm>
            <a:off x="770000" y="4290000"/>
            <a:ext cx="3330000" cy="620000"/>
          </a:xfrm>
          <a:prstGeom prst="roundRect">
            <a:avLst/>
          </a:prstGeom>
          <a:solidFill>
            <a:srgbClr val="F4F1EA">
              <a:alpha val="92000"/>
            </a:srgbClr>
          </a:solidFill>
          <a:ln>
            <a:noFill/>
          </a:ln>
        </p:spPr>
      </p:sp>
      <p:sp>
        <p:nvSpPr>
          <p:cNvPr id="12" name="Text 12"/>
          <p:cNvSpPr txBox="1"/>
          <p:nvPr/>
        </p:nvSpPr>
        <p:spPr>
          <a:xfrm>
            <a:off x="1010000" y="4455000"/>
            <a:ext cx="2860000" cy="24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2100" b="1">
                <a:solidFill>
                  <a:srgbClr val="1B1F23"/>
                </a:solidFill>
              </a:rPr>
              <a:t>Windier</a:t>
            </a:r>
          </a:p>
        </p:txBody>
      </p:sp>
      <p:sp>
        <p:nvSpPr>
          <p:cNvPr id="13" name="Text 13"/>
          <p:cNvSpPr txBox="1"/>
          <p:nvPr/>
        </p:nvSpPr>
        <p:spPr>
          <a:xfrm>
            <a:off x="11030000" y="6260000"/>
            <a:ext cx="600000" cy="22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r"/>
            <a:r>
              <a:rPr lang="en-US" sz="1100">
                <a:solidFill>
                  <a:srgbClr val="B8C0C7"/>
                </a:solidFill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>
              <a:alpha val="27000"/>
            </a:srgbClr>
          </a:solidFill>
          <a:ln>
            <a:noFill/>
          </a:ln>
        </p:spPr>
      </p:sp>
      <p:sp>
        <p:nvSpPr>
          <p:cNvPr id="4" name="Shape 4"/>
          <p:cNvSpPr/>
          <p:nvPr/>
        </p:nvSpPr>
        <p:spPr>
          <a:xfrm>
            <a:off x="0" y="0"/>
            <a:ext cx="12192000" cy="360000"/>
          </a:xfrm>
          <a:prstGeom prst="rect">
            <a:avLst/>
          </a:prstGeom>
          <a:solidFill>
            <a:srgbClr val="C9471A">
              <a:alpha val="100000"/>
            </a:srgbClr>
          </a:solidFill>
          <a:ln>
            <a:noFill/>
          </a:ln>
        </p:spPr>
      </p:sp>
      <p:sp>
        <p:nvSpPr>
          <p:cNvPr id="5" name="Text 5"/>
          <p:cNvSpPr txBox="1"/>
          <p:nvPr/>
        </p:nvSpPr>
        <p:spPr>
          <a:xfrm>
            <a:off x="420000" y="62000"/>
            <a:ext cx="1100000" cy="22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400" b="1">
                <a:solidFill>
                  <a:srgbClr val="FFFFFF"/>
                </a:solidFill>
              </a:rPr>
              <a:t>0:35</a:t>
            </a:r>
          </a:p>
        </p:txBody>
      </p:sp>
      <p:sp>
        <p:nvSpPr>
          <p:cNvPr id="6" name="Text 6"/>
          <p:cNvSpPr txBox="1"/>
          <p:nvPr/>
        </p:nvSpPr>
        <p:spPr>
          <a:xfrm>
            <a:off x="620000" y="760000"/>
            <a:ext cx="11000000" cy="105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3600" b="1">
                <a:solidFill>
                  <a:srgbClr val="FFFFFF"/>
                </a:solidFill>
              </a:rPr>
              <a:t>The operations gap</a:t>
            </a:r>
          </a:p>
        </p:txBody>
      </p:sp>
      <p:sp>
        <p:nvSpPr>
          <p:cNvPr id="7" name="Shape 7"/>
          <p:cNvSpPr/>
          <p:nvPr/>
        </p:nvSpPr>
        <p:spPr>
          <a:xfrm>
            <a:off x="770000" y="2650000"/>
            <a:ext cx="3330000" cy="620000"/>
          </a:xfrm>
          <a:prstGeom prst="roundRect">
            <a:avLst/>
          </a:prstGeom>
          <a:solidFill>
            <a:srgbClr val="F4F1EA">
              <a:alpha val="92000"/>
            </a:srgbClr>
          </a:solidFill>
          <a:ln>
            <a:noFill/>
          </a:ln>
        </p:spPr>
      </p:sp>
      <p:sp>
        <p:nvSpPr>
          <p:cNvPr id="8" name="Text 8"/>
          <p:cNvSpPr txBox="1"/>
          <p:nvPr/>
        </p:nvSpPr>
        <p:spPr>
          <a:xfrm>
            <a:off x="1010000" y="2815000"/>
            <a:ext cx="2860000" cy="24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2100" b="1">
                <a:solidFill>
                  <a:srgbClr val="1B1F23"/>
                </a:solidFill>
              </a:rPr>
              <a:t>Many feeds</a:t>
            </a:r>
          </a:p>
        </p:txBody>
      </p:sp>
      <p:sp>
        <p:nvSpPr>
          <p:cNvPr id="9" name="Shape 9"/>
          <p:cNvSpPr/>
          <p:nvPr/>
        </p:nvSpPr>
        <p:spPr>
          <a:xfrm>
            <a:off x="770000" y="3470000"/>
            <a:ext cx="3330000" cy="620000"/>
          </a:xfrm>
          <a:prstGeom prst="roundRect">
            <a:avLst/>
          </a:prstGeom>
          <a:solidFill>
            <a:srgbClr val="F4F1EA">
              <a:alpha val="92000"/>
            </a:srgbClr>
          </a:solidFill>
          <a:ln>
            <a:noFill/>
          </a:ln>
        </p:spPr>
      </p:sp>
      <p:sp>
        <p:nvSpPr>
          <p:cNvPr id="10" name="Text 10"/>
          <p:cNvSpPr txBox="1"/>
          <p:nvPr/>
        </p:nvSpPr>
        <p:spPr>
          <a:xfrm>
            <a:off x="1010000" y="3635000"/>
            <a:ext cx="2860000" cy="24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2100" b="1">
                <a:solidFill>
                  <a:srgbClr val="1B1F23"/>
                </a:solidFill>
              </a:rPr>
              <a:t>Spatial complexity</a:t>
            </a:r>
          </a:p>
        </p:txBody>
      </p:sp>
      <p:sp>
        <p:nvSpPr>
          <p:cNvPr id="11" name="Shape 11"/>
          <p:cNvSpPr/>
          <p:nvPr/>
        </p:nvSpPr>
        <p:spPr>
          <a:xfrm>
            <a:off x="770000" y="4290000"/>
            <a:ext cx="3330000" cy="620000"/>
          </a:xfrm>
          <a:prstGeom prst="roundRect">
            <a:avLst/>
          </a:prstGeom>
          <a:solidFill>
            <a:srgbClr val="F4F1EA">
              <a:alpha val="92000"/>
            </a:srgbClr>
          </a:solidFill>
          <a:ln>
            <a:noFill/>
          </a:ln>
        </p:spPr>
      </p:sp>
      <p:sp>
        <p:nvSpPr>
          <p:cNvPr id="12" name="Text 12"/>
          <p:cNvSpPr txBox="1"/>
          <p:nvPr/>
        </p:nvSpPr>
        <p:spPr>
          <a:xfrm>
            <a:off x="1010000" y="4455000"/>
            <a:ext cx="2860000" cy="24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2100" b="1">
                <a:solidFill>
                  <a:srgbClr val="1B1F23"/>
                </a:solidFill>
              </a:rPr>
              <a:t>Approval pressure</a:t>
            </a:r>
          </a:p>
        </p:txBody>
      </p:sp>
      <p:sp>
        <p:nvSpPr>
          <p:cNvPr id="13" name="Text 13"/>
          <p:cNvSpPr txBox="1"/>
          <p:nvPr/>
        </p:nvSpPr>
        <p:spPr>
          <a:xfrm>
            <a:off x="11030000" y="6260000"/>
            <a:ext cx="600000" cy="22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r"/>
            <a:r>
              <a:rPr lang="en-US" sz="1100">
                <a:solidFill>
                  <a:srgbClr val="B8C0C7"/>
                </a:solidFill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>
              <a:alpha val="27000"/>
            </a:srgbClr>
          </a:solidFill>
          <a:ln>
            <a:noFill/>
          </a:ln>
        </p:spPr>
      </p:sp>
      <p:sp>
        <p:nvSpPr>
          <p:cNvPr id="4" name="Shape 4"/>
          <p:cNvSpPr/>
          <p:nvPr/>
        </p:nvSpPr>
        <p:spPr>
          <a:xfrm>
            <a:off x="0" y="0"/>
            <a:ext cx="12192000" cy="360000"/>
          </a:xfrm>
          <a:prstGeom prst="rect">
            <a:avLst/>
          </a:prstGeom>
          <a:solidFill>
            <a:srgbClr val="C9471A">
              <a:alpha val="100000"/>
            </a:srgbClr>
          </a:solidFill>
          <a:ln>
            <a:noFill/>
          </a:ln>
        </p:spPr>
      </p:sp>
      <p:sp>
        <p:nvSpPr>
          <p:cNvPr id="5" name="Text 5"/>
          <p:cNvSpPr txBox="1"/>
          <p:nvPr/>
        </p:nvSpPr>
        <p:spPr>
          <a:xfrm>
            <a:off x="420000" y="62000"/>
            <a:ext cx="1100000" cy="22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400" b="1">
                <a:solidFill>
                  <a:srgbClr val="FFFFFF"/>
                </a:solidFill>
              </a:rPr>
              <a:t>0:55</a:t>
            </a:r>
          </a:p>
        </p:txBody>
      </p:sp>
      <p:sp>
        <p:nvSpPr>
          <p:cNvPr id="6" name="Text 6"/>
          <p:cNvSpPr txBox="1"/>
          <p:nvPr/>
        </p:nvSpPr>
        <p:spPr>
          <a:xfrm>
            <a:off x="620000" y="760000"/>
            <a:ext cx="11000000" cy="105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3600" b="1">
                <a:solidFill>
                  <a:srgbClr val="FFFFFF"/>
                </a:solidFill>
              </a:rPr>
              <a:t>AI agent bridge</a:t>
            </a:r>
          </a:p>
        </p:txBody>
      </p:sp>
      <p:sp>
        <p:nvSpPr>
          <p:cNvPr id="7" name="Shape 7"/>
          <p:cNvSpPr/>
          <p:nvPr/>
        </p:nvSpPr>
        <p:spPr>
          <a:xfrm>
            <a:off x="770000" y="2650000"/>
            <a:ext cx="3330000" cy="620000"/>
          </a:xfrm>
          <a:prstGeom prst="roundRect">
            <a:avLst/>
          </a:prstGeom>
          <a:solidFill>
            <a:srgbClr val="F4F1EA">
              <a:alpha val="92000"/>
            </a:srgbClr>
          </a:solidFill>
          <a:ln>
            <a:noFill/>
          </a:ln>
        </p:spPr>
      </p:sp>
      <p:sp>
        <p:nvSpPr>
          <p:cNvPr id="8" name="Text 8"/>
          <p:cNvSpPr txBox="1"/>
          <p:nvPr/>
        </p:nvSpPr>
        <p:spPr>
          <a:xfrm>
            <a:off x="1010000" y="2815000"/>
            <a:ext cx="2860000" cy="24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2100" b="1">
                <a:solidFill>
                  <a:srgbClr val="1B1F23"/>
                </a:solidFill>
              </a:rPr>
              <a:t>Sense</a:t>
            </a:r>
          </a:p>
        </p:txBody>
      </p:sp>
      <p:sp>
        <p:nvSpPr>
          <p:cNvPr id="9" name="Shape 9"/>
          <p:cNvSpPr/>
          <p:nvPr/>
        </p:nvSpPr>
        <p:spPr>
          <a:xfrm>
            <a:off x="770000" y="3470000"/>
            <a:ext cx="3330000" cy="620000"/>
          </a:xfrm>
          <a:prstGeom prst="roundRect">
            <a:avLst/>
          </a:prstGeom>
          <a:solidFill>
            <a:srgbClr val="F4F1EA">
              <a:alpha val="92000"/>
            </a:srgbClr>
          </a:solidFill>
          <a:ln>
            <a:noFill/>
          </a:ln>
        </p:spPr>
      </p:sp>
      <p:sp>
        <p:nvSpPr>
          <p:cNvPr id="10" name="Text 10"/>
          <p:cNvSpPr txBox="1"/>
          <p:nvPr/>
        </p:nvSpPr>
        <p:spPr>
          <a:xfrm>
            <a:off x="1010000" y="3635000"/>
            <a:ext cx="2860000" cy="24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2100" b="1">
                <a:solidFill>
                  <a:srgbClr val="1B1F23"/>
                </a:solidFill>
              </a:rPr>
              <a:t>Reason</a:t>
            </a:r>
          </a:p>
        </p:txBody>
      </p:sp>
      <p:sp>
        <p:nvSpPr>
          <p:cNvPr id="11" name="Shape 11"/>
          <p:cNvSpPr/>
          <p:nvPr/>
        </p:nvSpPr>
        <p:spPr>
          <a:xfrm>
            <a:off x="770000" y="4290000"/>
            <a:ext cx="3330000" cy="620000"/>
          </a:xfrm>
          <a:prstGeom prst="roundRect">
            <a:avLst/>
          </a:prstGeom>
          <a:solidFill>
            <a:srgbClr val="F4F1EA">
              <a:alpha val="92000"/>
            </a:srgbClr>
          </a:solidFill>
          <a:ln>
            <a:noFill/>
          </a:ln>
        </p:spPr>
      </p:sp>
      <p:sp>
        <p:nvSpPr>
          <p:cNvPr id="12" name="Text 12"/>
          <p:cNvSpPr txBox="1"/>
          <p:nvPr/>
        </p:nvSpPr>
        <p:spPr>
          <a:xfrm>
            <a:off x="1010000" y="4455000"/>
            <a:ext cx="2860000" cy="24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2100" b="1">
                <a:solidFill>
                  <a:srgbClr val="1B1F23"/>
                </a:solidFill>
              </a:rPr>
              <a:t>Act with approval</a:t>
            </a:r>
          </a:p>
        </p:txBody>
      </p:sp>
      <p:sp>
        <p:nvSpPr>
          <p:cNvPr id="13" name="Text 13"/>
          <p:cNvSpPr txBox="1"/>
          <p:nvPr/>
        </p:nvSpPr>
        <p:spPr>
          <a:xfrm>
            <a:off x="11030000" y="6260000"/>
            <a:ext cx="600000" cy="22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r"/>
            <a:r>
              <a:rPr lang="en-US" sz="1100">
                <a:solidFill>
                  <a:srgbClr val="B8C0C7"/>
                </a:solidFill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>
              <a:alpha val="27000"/>
            </a:srgbClr>
          </a:solidFill>
          <a:ln>
            <a:noFill/>
          </a:ln>
        </p:spPr>
      </p:sp>
      <p:sp>
        <p:nvSpPr>
          <p:cNvPr id="4" name="Shape 4"/>
          <p:cNvSpPr/>
          <p:nvPr/>
        </p:nvSpPr>
        <p:spPr>
          <a:xfrm>
            <a:off x="0" y="0"/>
            <a:ext cx="12192000" cy="360000"/>
          </a:xfrm>
          <a:prstGeom prst="rect">
            <a:avLst/>
          </a:prstGeom>
          <a:solidFill>
            <a:srgbClr val="C9471A">
              <a:alpha val="100000"/>
            </a:srgbClr>
          </a:solidFill>
          <a:ln>
            <a:noFill/>
          </a:ln>
        </p:spPr>
      </p:sp>
      <p:sp>
        <p:nvSpPr>
          <p:cNvPr id="5" name="Text 5"/>
          <p:cNvSpPr txBox="1"/>
          <p:nvPr/>
        </p:nvSpPr>
        <p:spPr>
          <a:xfrm>
            <a:off x="420000" y="62000"/>
            <a:ext cx="1100000" cy="22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400" b="1">
                <a:solidFill>
                  <a:srgbClr val="FFFFFF"/>
                </a:solidFill>
              </a:rPr>
              <a:t>1:12</a:t>
            </a:r>
          </a:p>
        </p:txBody>
      </p:sp>
      <p:sp>
        <p:nvSpPr>
          <p:cNvPr id="6" name="Text 6"/>
          <p:cNvSpPr txBox="1"/>
          <p:nvPr/>
        </p:nvSpPr>
        <p:spPr>
          <a:xfrm>
            <a:off x="620000" y="760000"/>
            <a:ext cx="11000000" cy="105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3600" b="1">
                <a:solidFill>
                  <a:srgbClr val="FFFFFF"/>
                </a:solidFill>
              </a:rPr>
              <a:t>Wildfire Ops Copilot</a:t>
            </a:r>
          </a:p>
        </p:txBody>
      </p:sp>
      <p:sp>
        <p:nvSpPr>
          <p:cNvPr id="7" name="Shape 7"/>
          <p:cNvSpPr/>
          <p:nvPr/>
        </p:nvSpPr>
        <p:spPr>
          <a:xfrm>
            <a:off x="770000" y="2650000"/>
            <a:ext cx="3330000" cy="620000"/>
          </a:xfrm>
          <a:prstGeom prst="roundRect">
            <a:avLst/>
          </a:prstGeom>
          <a:solidFill>
            <a:srgbClr val="F4F1EA">
              <a:alpha val="92000"/>
            </a:srgbClr>
          </a:solidFill>
          <a:ln>
            <a:noFill/>
          </a:ln>
        </p:spPr>
      </p:sp>
      <p:sp>
        <p:nvSpPr>
          <p:cNvPr id="8" name="Text 8"/>
          <p:cNvSpPr txBox="1"/>
          <p:nvPr/>
        </p:nvSpPr>
        <p:spPr>
          <a:xfrm>
            <a:off x="1010000" y="2815000"/>
            <a:ext cx="2860000" cy="24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2100" b="1">
                <a:solidFill>
                  <a:srgbClr val="1B1F23"/>
                </a:solidFill>
              </a:rPr>
              <a:t>Monitor AOI</a:t>
            </a:r>
          </a:p>
        </p:txBody>
      </p:sp>
      <p:sp>
        <p:nvSpPr>
          <p:cNvPr id="9" name="Shape 9"/>
          <p:cNvSpPr/>
          <p:nvPr/>
        </p:nvSpPr>
        <p:spPr>
          <a:xfrm>
            <a:off x="770000" y="3470000"/>
            <a:ext cx="3330000" cy="620000"/>
          </a:xfrm>
          <a:prstGeom prst="roundRect">
            <a:avLst/>
          </a:prstGeom>
          <a:solidFill>
            <a:srgbClr val="F4F1EA">
              <a:alpha val="92000"/>
            </a:srgbClr>
          </a:solidFill>
          <a:ln>
            <a:noFill/>
          </a:ln>
        </p:spPr>
      </p:sp>
      <p:sp>
        <p:nvSpPr>
          <p:cNvPr id="10" name="Text 10"/>
          <p:cNvSpPr txBox="1"/>
          <p:nvPr/>
        </p:nvSpPr>
        <p:spPr>
          <a:xfrm>
            <a:off x="1010000" y="3635000"/>
            <a:ext cx="2860000" cy="24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2100" b="1">
                <a:solidFill>
                  <a:srgbClr val="1B1F23"/>
                </a:solidFill>
              </a:rPr>
              <a:t>Explain risk</a:t>
            </a:r>
          </a:p>
        </p:txBody>
      </p:sp>
      <p:sp>
        <p:nvSpPr>
          <p:cNvPr id="11" name="Shape 11"/>
          <p:cNvSpPr/>
          <p:nvPr/>
        </p:nvSpPr>
        <p:spPr>
          <a:xfrm>
            <a:off x="770000" y="4290000"/>
            <a:ext cx="3330000" cy="620000"/>
          </a:xfrm>
          <a:prstGeom prst="roundRect">
            <a:avLst/>
          </a:prstGeom>
          <a:solidFill>
            <a:srgbClr val="F4F1EA">
              <a:alpha val="92000"/>
            </a:srgbClr>
          </a:solidFill>
          <a:ln>
            <a:noFill/>
          </a:ln>
        </p:spPr>
      </p:sp>
      <p:sp>
        <p:nvSpPr>
          <p:cNvPr id="12" name="Text 12"/>
          <p:cNvSpPr txBox="1"/>
          <p:nvPr/>
        </p:nvSpPr>
        <p:spPr>
          <a:xfrm>
            <a:off x="1010000" y="4455000"/>
            <a:ext cx="2860000" cy="24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2100" b="1">
                <a:solidFill>
                  <a:srgbClr val="1B1F23"/>
                </a:solidFill>
              </a:rPr>
              <a:t>Draft safe actions</a:t>
            </a:r>
          </a:p>
        </p:txBody>
      </p:sp>
      <p:sp>
        <p:nvSpPr>
          <p:cNvPr id="13" name="Text 13"/>
          <p:cNvSpPr txBox="1"/>
          <p:nvPr/>
        </p:nvSpPr>
        <p:spPr>
          <a:xfrm>
            <a:off x="11030000" y="6260000"/>
            <a:ext cx="600000" cy="22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r"/>
            <a:r>
              <a:rPr lang="en-US" sz="1100">
                <a:solidFill>
                  <a:srgbClr val="B8C0C7"/>
                </a:solidFill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>
              <a:alpha val="27000"/>
            </a:srgbClr>
          </a:solidFill>
          <a:ln>
            <a:noFill/>
          </a:ln>
        </p:spPr>
      </p:sp>
      <p:sp>
        <p:nvSpPr>
          <p:cNvPr id="4" name="Shape 4"/>
          <p:cNvSpPr/>
          <p:nvPr/>
        </p:nvSpPr>
        <p:spPr>
          <a:xfrm>
            <a:off x="0" y="0"/>
            <a:ext cx="12192000" cy="360000"/>
          </a:xfrm>
          <a:prstGeom prst="rect">
            <a:avLst/>
          </a:prstGeom>
          <a:solidFill>
            <a:srgbClr val="C9471A">
              <a:alpha val="100000"/>
            </a:srgbClr>
          </a:solidFill>
          <a:ln>
            <a:noFill/>
          </a:ln>
        </p:spPr>
      </p:sp>
      <p:sp>
        <p:nvSpPr>
          <p:cNvPr id="5" name="Text 5"/>
          <p:cNvSpPr txBox="1"/>
          <p:nvPr/>
        </p:nvSpPr>
        <p:spPr>
          <a:xfrm>
            <a:off x="420000" y="62000"/>
            <a:ext cx="1100000" cy="22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400" b="1">
                <a:solidFill>
                  <a:srgbClr val="FFFFFF"/>
                </a:solidFill>
              </a:rPr>
              <a:t>1:28</a:t>
            </a:r>
          </a:p>
        </p:txBody>
      </p:sp>
      <p:sp>
        <p:nvSpPr>
          <p:cNvPr id="6" name="Text 6"/>
          <p:cNvSpPr txBox="1"/>
          <p:nvPr/>
        </p:nvSpPr>
        <p:spPr>
          <a:xfrm>
            <a:off x="620000" y="760000"/>
            <a:ext cx="11000000" cy="105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3600" b="1">
                <a:solidFill>
                  <a:srgbClr val="FFFFFF"/>
                </a:solidFill>
              </a:rPr>
              <a:t>Top features</a:t>
            </a:r>
          </a:p>
        </p:txBody>
      </p:sp>
      <p:sp>
        <p:nvSpPr>
          <p:cNvPr id="7" name="Shape 7"/>
          <p:cNvSpPr/>
          <p:nvPr/>
        </p:nvSpPr>
        <p:spPr>
          <a:xfrm>
            <a:off x="770000" y="2650000"/>
            <a:ext cx="3330000" cy="620000"/>
          </a:xfrm>
          <a:prstGeom prst="roundRect">
            <a:avLst/>
          </a:prstGeom>
          <a:solidFill>
            <a:srgbClr val="F4F1EA">
              <a:alpha val="92000"/>
            </a:srgbClr>
          </a:solidFill>
          <a:ln>
            <a:noFill/>
          </a:ln>
        </p:spPr>
      </p:sp>
      <p:sp>
        <p:nvSpPr>
          <p:cNvPr id="8" name="Text 8"/>
          <p:cNvSpPr txBox="1"/>
          <p:nvPr/>
        </p:nvSpPr>
        <p:spPr>
          <a:xfrm>
            <a:off x="1010000" y="2815000"/>
            <a:ext cx="2860000" cy="24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2100" b="1">
                <a:solidFill>
                  <a:srgbClr val="1B1F23"/>
                </a:solidFill>
              </a:rPr>
              <a:t>Live AOI focus</a:t>
            </a:r>
          </a:p>
        </p:txBody>
      </p:sp>
      <p:sp>
        <p:nvSpPr>
          <p:cNvPr id="9" name="Shape 9"/>
          <p:cNvSpPr/>
          <p:nvPr/>
        </p:nvSpPr>
        <p:spPr>
          <a:xfrm>
            <a:off x="770000" y="3470000"/>
            <a:ext cx="3330000" cy="620000"/>
          </a:xfrm>
          <a:prstGeom prst="roundRect">
            <a:avLst/>
          </a:prstGeom>
          <a:solidFill>
            <a:srgbClr val="F4F1EA">
              <a:alpha val="92000"/>
            </a:srgbClr>
          </a:solidFill>
          <a:ln>
            <a:noFill/>
          </a:ln>
        </p:spPr>
      </p:sp>
      <p:sp>
        <p:nvSpPr>
          <p:cNvPr id="10" name="Text 10"/>
          <p:cNvSpPr txBox="1"/>
          <p:nvPr/>
        </p:nvSpPr>
        <p:spPr>
          <a:xfrm>
            <a:off x="1010000" y="3635000"/>
            <a:ext cx="2860000" cy="24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2100" b="1">
                <a:solidFill>
                  <a:srgbClr val="1B1F23"/>
                </a:solidFill>
              </a:rPr>
              <a:t>Risk + report</a:t>
            </a:r>
          </a:p>
        </p:txBody>
      </p:sp>
      <p:sp>
        <p:nvSpPr>
          <p:cNvPr id="11" name="Shape 11"/>
          <p:cNvSpPr/>
          <p:nvPr/>
        </p:nvSpPr>
        <p:spPr>
          <a:xfrm>
            <a:off x="770000" y="4290000"/>
            <a:ext cx="3330000" cy="620000"/>
          </a:xfrm>
          <a:prstGeom prst="roundRect">
            <a:avLst/>
          </a:prstGeom>
          <a:solidFill>
            <a:srgbClr val="F4F1EA">
              <a:alpha val="92000"/>
            </a:srgbClr>
          </a:solidFill>
          <a:ln>
            <a:noFill/>
          </a:ln>
        </p:spPr>
      </p:sp>
      <p:sp>
        <p:nvSpPr>
          <p:cNvPr id="12" name="Text 12"/>
          <p:cNvSpPr txBox="1"/>
          <p:nvPr/>
        </p:nvSpPr>
        <p:spPr>
          <a:xfrm>
            <a:off x="1010000" y="4455000"/>
            <a:ext cx="2860000" cy="24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2100" b="1">
                <a:solidFill>
                  <a:srgbClr val="1B1F23"/>
                </a:solidFill>
              </a:rPr>
              <a:t>What-if + advisory</a:t>
            </a:r>
          </a:p>
        </p:txBody>
      </p:sp>
      <p:sp>
        <p:nvSpPr>
          <p:cNvPr id="13" name="Text 13"/>
          <p:cNvSpPr txBox="1"/>
          <p:nvPr/>
        </p:nvSpPr>
        <p:spPr>
          <a:xfrm>
            <a:off x="11030000" y="6260000"/>
            <a:ext cx="600000" cy="22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r"/>
            <a:r>
              <a:rPr lang="en-US" sz="1100">
                <a:solidFill>
                  <a:srgbClr val="B8C0C7"/>
                </a:solidFill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61C">
              <a:alpha val="100000"/>
            </a:srgbClr>
          </a:solidFill>
          <a:ln>
            <a:noFill/>
          </a:ln>
        </p:spPr>
      </p:sp>
      <p:sp>
        <p:nvSpPr>
          <p:cNvPr id="3" name="Shape 3"/>
          <p:cNvSpPr/>
          <p:nvPr/>
        </p:nvSpPr>
        <p:spPr>
          <a:xfrm>
            <a:off x="0" y="0"/>
            <a:ext cx="12192000" cy="360000"/>
          </a:xfrm>
          <a:prstGeom prst="rect">
            <a:avLst/>
          </a:prstGeom>
          <a:solidFill>
            <a:srgbClr val="C9471A">
              <a:alpha val="100000"/>
            </a:srgbClr>
          </a:solidFill>
          <a:ln>
            <a:noFill/>
          </a:ln>
        </p:spPr>
      </p:sp>
      <p:sp>
        <p:nvSpPr>
          <p:cNvPr id="4" name="Text 4"/>
          <p:cNvSpPr txBox="1"/>
          <p:nvPr/>
        </p:nvSpPr>
        <p:spPr>
          <a:xfrm>
            <a:off x="420000" y="62000"/>
            <a:ext cx="1100000" cy="22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400" b="1">
                <a:solidFill>
                  <a:srgbClr val="FFFFFF"/>
                </a:solidFill>
              </a:rPr>
              <a:t>1:52</a:t>
            </a:r>
          </a:p>
        </p:txBody>
      </p:sp>
      <p:sp>
        <p:nvSpPr>
          <p:cNvPr id="5" name="Text 5"/>
          <p:cNvSpPr txBox="1"/>
          <p:nvPr/>
        </p:nvSpPr>
        <p:spPr>
          <a:xfrm>
            <a:off x="620000" y="760000"/>
            <a:ext cx="11000000" cy="105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3600" b="1">
                <a:solidFill>
                  <a:srgbClr val="FFFFFF"/>
                </a:solidFill>
              </a:rPr>
              <a:t>GCP + Elastic stack</a:t>
            </a:r>
          </a:p>
        </p:txBody>
      </p:sp>
      <p:sp>
        <p:nvSpPr>
          <p:cNvPr id="6" name="Shape 6"/>
          <p:cNvSpPr/>
          <p:nvPr/>
        </p:nvSpPr>
        <p:spPr>
          <a:xfrm>
            <a:off x="730000" y="2400000"/>
            <a:ext cx="1580000" cy="1800000"/>
          </a:xfrm>
          <a:prstGeom prst="roundRect">
            <a:avLst/>
          </a:prstGeom>
          <a:solidFill>
            <a:srgbClr val="F4F1EA">
              <a:alpha val="94000"/>
            </a:srgbClr>
          </a:solidFill>
          <a:ln>
            <a:noFill/>
          </a:ln>
        </p:spPr>
      </p:sp>
      <p:pic>
        <p:nvPicPr>
          <p:cNvPr id="7" name="Picture 7"/>
          <p:cNvPicPr/>
          <p:nvPr/>
        </p:nvPicPr>
        <p:blipFill>
          <a:blip r:embed="rId3"/>
          <a:stretch>
            <a:fillRect/>
          </a:stretch>
        </p:blipFill>
        <p:spPr>
          <a:xfrm>
            <a:off x="1160000" y="2630000"/>
            <a:ext cx="720000" cy="720000"/>
          </a:xfrm>
          <a:prstGeom prst="rect">
            <a:avLst/>
          </a:prstGeom>
        </p:spPr>
      </p:pic>
      <p:sp>
        <p:nvSpPr>
          <p:cNvPr id="8" name="Text 8"/>
          <p:cNvSpPr txBox="1"/>
          <p:nvPr/>
        </p:nvSpPr>
        <p:spPr>
          <a:xfrm>
            <a:off x="910000" y="3540000"/>
            <a:ext cx="1200000" cy="6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ctr"/>
            <a:r>
              <a:rPr lang="en-US" sz="1800" b="1">
                <a:solidFill>
                  <a:srgbClr val="1B1F23"/>
                </a:solidFill>
              </a:rPr>
              <a:t>Firebase</a:t>
            </a:r>
          </a:p>
          <a:p>
            <a:pPr algn="ctr"/>
            <a:r>
              <a:rPr lang="en-US" sz="1800" b="1">
                <a:solidFill>
                  <a:srgbClr val="1B1F23"/>
                </a:solidFill>
              </a:rPr>
              <a:t>Hosting</a:t>
            </a:r>
          </a:p>
        </p:txBody>
      </p:sp>
      <p:sp>
        <p:nvSpPr>
          <p:cNvPr id="9" name="Shape 9"/>
          <p:cNvSpPr/>
          <p:nvPr/>
        </p:nvSpPr>
        <p:spPr>
          <a:xfrm>
            <a:off x="2880000" y="2400000"/>
            <a:ext cx="1580000" cy="1800000"/>
          </a:xfrm>
          <a:prstGeom prst="roundRect">
            <a:avLst/>
          </a:prstGeom>
          <a:solidFill>
            <a:srgbClr val="F4F1EA">
              <a:alpha val="94000"/>
            </a:srgbClr>
          </a:solidFill>
          <a:ln>
            <a:noFill/>
          </a:ln>
        </p:spPr>
      </p:sp>
      <p:pic>
        <p:nvPicPr>
          <p:cNvPr id="10" name="Picture 10"/>
          <p:cNvPicPr/>
          <p:nvPr/>
        </p:nvPicPr>
        <p:blipFill>
          <a:blip r:embed="rId4"/>
          <a:stretch>
            <a:fillRect/>
          </a:stretch>
        </p:blipFill>
        <p:spPr>
          <a:xfrm>
            <a:off x="3310000" y="2630000"/>
            <a:ext cx="720000" cy="720000"/>
          </a:xfrm>
          <a:prstGeom prst="rect">
            <a:avLst/>
          </a:prstGeom>
        </p:spPr>
      </p:pic>
      <p:sp>
        <p:nvSpPr>
          <p:cNvPr id="11" name="Text 11"/>
          <p:cNvSpPr txBox="1"/>
          <p:nvPr/>
        </p:nvSpPr>
        <p:spPr>
          <a:xfrm>
            <a:off x="3060000" y="3540000"/>
            <a:ext cx="1200000" cy="6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ctr"/>
            <a:r>
              <a:rPr lang="en-US" sz="1800" b="1">
                <a:solidFill>
                  <a:srgbClr val="1B1F23"/>
                </a:solidFill>
              </a:rPr>
              <a:t>Cloud Run</a:t>
            </a:r>
          </a:p>
          <a:p>
            <a:pPr algn="ctr"/>
            <a:r>
              <a:rPr lang="en-US" sz="1800" b="1">
                <a:solidFill>
                  <a:srgbClr val="1B1F23"/>
                </a:solidFill>
              </a:rPr>
              <a:t>Backend</a:t>
            </a:r>
          </a:p>
        </p:txBody>
      </p:sp>
      <p:sp>
        <p:nvSpPr>
          <p:cNvPr id="12" name="Shape 12"/>
          <p:cNvSpPr/>
          <p:nvPr/>
        </p:nvSpPr>
        <p:spPr>
          <a:xfrm>
            <a:off x="5030000" y="2400000"/>
            <a:ext cx="1580000" cy="1800000"/>
          </a:xfrm>
          <a:prstGeom prst="roundRect">
            <a:avLst/>
          </a:prstGeom>
          <a:solidFill>
            <a:srgbClr val="F4F1EA">
              <a:alpha val="94000"/>
            </a:srgbClr>
          </a:solidFill>
          <a:ln>
            <a:noFill/>
          </a:ln>
        </p:spPr>
      </p:sp>
      <p:pic>
        <p:nvPicPr>
          <p:cNvPr id="13" name="Picture 13"/>
          <p:cNvPicPr/>
          <p:nvPr/>
        </p:nvPicPr>
        <p:blipFill>
          <a:blip r:embed="rId5"/>
          <a:stretch>
            <a:fillRect/>
          </a:stretch>
        </p:blipFill>
        <p:spPr>
          <a:xfrm>
            <a:off x="5460000" y="2630000"/>
            <a:ext cx="720000" cy="720000"/>
          </a:xfrm>
          <a:prstGeom prst="rect">
            <a:avLst/>
          </a:prstGeom>
        </p:spPr>
      </p:pic>
      <p:sp>
        <p:nvSpPr>
          <p:cNvPr id="14" name="Text 14"/>
          <p:cNvSpPr txBox="1"/>
          <p:nvPr/>
        </p:nvSpPr>
        <p:spPr>
          <a:xfrm>
            <a:off x="5210000" y="3540000"/>
            <a:ext cx="1200000" cy="6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ctr"/>
            <a:r>
              <a:rPr lang="en-US" sz="1800" b="1">
                <a:solidFill>
                  <a:srgbClr val="1B1F23"/>
                </a:solidFill>
              </a:rPr>
              <a:t>Vertex AI</a:t>
            </a:r>
          </a:p>
          <a:p>
            <a:pPr algn="ctr"/>
            <a:r>
              <a:rPr lang="en-US" sz="1800" b="1">
                <a:solidFill>
                  <a:srgbClr val="1B1F23"/>
                </a:solidFill>
              </a:rPr>
              <a:t>Gemini</a:t>
            </a:r>
          </a:p>
        </p:txBody>
      </p:sp>
      <p:sp>
        <p:nvSpPr>
          <p:cNvPr id="15" name="Shape 15"/>
          <p:cNvSpPr/>
          <p:nvPr/>
        </p:nvSpPr>
        <p:spPr>
          <a:xfrm>
            <a:off x="7180000" y="2400000"/>
            <a:ext cx="1580000" cy="1800000"/>
          </a:xfrm>
          <a:prstGeom prst="roundRect">
            <a:avLst/>
          </a:prstGeom>
          <a:solidFill>
            <a:srgbClr val="F4F1EA">
              <a:alpha val="94000"/>
            </a:srgbClr>
          </a:solidFill>
          <a:ln>
            <a:noFill/>
          </a:ln>
        </p:spPr>
      </p:sp>
      <p:pic>
        <p:nvPicPr>
          <p:cNvPr id="16" name="Picture 16"/>
          <p:cNvPicPr/>
          <p:nvPr/>
        </p:nvPicPr>
        <p:blipFill>
          <a:blip r:embed="rId6"/>
          <a:stretch>
            <a:fillRect/>
          </a:stretch>
        </p:blipFill>
        <p:spPr>
          <a:xfrm>
            <a:off x="7610000" y="2630000"/>
            <a:ext cx="720000" cy="720000"/>
          </a:xfrm>
          <a:prstGeom prst="rect">
            <a:avLst/>
          </a:prstGeom>
        </p:spPr>
      </p:pic>
      <p:sp>
        <p:nvSpPr>
          <p:cNvPr id="17" name="Text 17"/>
          <p:cNvSpPr txBox="1"/>
          <p:nvPr/>
        </p:nvSpPr>
        <p:spPr>
          <a:xfrm>
            <a:off x="7360000" y="3540000"/>
            <a:ext cx="1200000" cy="6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ctr"/>
            <a:r>
              <a:rPr lang="en-US" sz="1800" b="1">
                <a:solidFill>
                  <a:srgbClr val="1B1F23"/>
                </a:solidFill>
              </a:rPr>
              <a:t>Firestore</a:t>
            </a:r>
          </a:p>
          <a:p>
            <a:pPr algn="ctr"/>
            <a:r>
              <a:rPr lang="en-US" sz="1800" b="1">
                <a:solidFill>
                  <a:srgbClr val="1B1F23"/>
                </a:solidFill>
              </a:rPr>
              <a:t>State</a:t>
            </a:r>
          </a:p>
        </p:txBody>
      </p:sp>
      <p:sp>
        <p:nvSpPr>
          <p:cNvPr id="18" name="Shape 18"/>
          <p:cNvSpPr/>
          <p:nvPr/>
        </p:nvSpPr>
        <p:spPr>
          <a:xfrm>
            <a:off x="9330000" y="2400000"/>
            <a:ext cx="1580000" cy="1800000"/>
          </a:xfrm>
          <a:prstGeom prst="roundRect">
            <a:avLst/>
          </a:prstGeom>
          <a:solidFill>
            <a:srgbClr val="F4F1EA">
              <a:alpha val="94000"/>
            </a:srgbClr>
          </a:solidFill>
          <a:ln>
            <a:noFill/>
          </a:ln>
        </p:spPr>
      </p:sp>
      <p:pic>
        <p:nvPicPr>
          <p:cNvPr id="19" name="Picture 19"/>
          <p:cNvPicPr/>
          <p:nvPr/>
        </p:nvPicPr>
        <p:blipFill>
          <a:blip r:embed="rId7"/>
          <a:stretch>
            <a:fillRect/>
          </a:stretch>
        </p:blipFill>
        <p:spPr>
          <a:xfrm>
            <a:off x="9760000" y="2630000"/>
            <a:ext cx="720000" cy="720000"/>
          </a:xfrm>
          <a:prstGeom prst="rect">
            <a:avLst/>
          </a:prstGeom>
        </p:spPr>
      </p:pic>
      <p:sp>
        <p:nvSpPr>
          <p:cNvPr id="20" name="Text 20"/>
          <p:cNvSpPr txBox="1"/>
          <p:nvPr/>
        </p:nvSpPr>
        <p:spPr>
          <a:xfrm>
            <a:off x="9510000" y="3540000"/>
            <a:ext cx="1200000" cy="6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ctr"/>
            <a:r>
              <a:rPr lang="en-US" sz="1800" b="1">
                <a:solidFill>
                  <a:srgbClr val="1B1F23"/>
                </a:solidFill>
              </a:rPr>
              <a:t>Elastic</a:t>
            </a:r>
          </a:p>
          <a:p>
            <a:pPr algn="ctr"/>
            <a:r>
              <a:rPr lang="en-US" sz="1800" b="1">
                <a:solidFill>
                  <a:srgbClr val="1B1F23"/>
                </a:solidFill>
              </a:rPr>
              <a:t>MCP</a:t>
            </a:r>
          </a:p>
        </p:txBody>
      </p:sp>
      <p:sp>
        <p:nvSpPr>
          <p:cNvPr id="21" name="Text 21"/>
          <p:cNvSpPr txBox="1"/>
          <p:nvPr/>
        </p:nvSpPr>
        <p:spPr>
          <a:xfrm>
            <a:off x="11030000" y="6260000"/>
            <a:ext cx="600000" cy="22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r"/>
            <a:r>
              <a:rPr lang="en-US" sz="1100">
                <a:solidFill>
                  <a:srgbClr val="B8C0C7"/>
                </a:solidFill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61C">
              <a:alpha val="100000"/>
            </a:srgbClr>
          </a:solidFill>
          <a:ln>
            <a:noFill/>
          </a:ln>
        </p:spPr>
      </p:sp>
      <p:sp>
        <p:nvSpPr>
          <p:cNvPr id="3" name="Shape 3"/>
          <p:cNvSpPr/>
          <p:nvPr/>
        </p:nvSpPr>
        <p:spPr>
          <a:xfrm>
            <a:off x="0" y="0"/>
            <a:ext cx="12192000" cy="360000"/>
          </a:xfrm>
          <a:prstGeom prst="rect">
            <a:avLst/>
          </a:prstGeom>
          <a:solidFill>
            <a:srgbClr val="C9471A">
              <a:alpha val="100000"/>
            </a:srgbClr>
          </a:solidFill>
          <a:ln>
            <a:noFill/>
          </a:ln>
        </p:spPr>
      </p:sp>
      <p:sp>
        <p:nvSpPr>
          <p:cNvPr id="4" name="Text 4"/>
          <p:cNvSpPr txBox="1"/>
          <p:nvPr/>
        </p:nvSpPr>
        <p:spPr>
          <a:xfrm>
            <a:off x="420000" y="62000"/>
            <a:ext cx="1100000" cy="22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400" b="1">
                <a:solidFill>
                  <a:srgbClr val="FFFFFF"/>
                </a:solidFill>
              </a:rPr>
              <a:t>2:08</a:t>
            </a:r>
          </a:p>
        </p:txBody>
      </p:sp>
      <p:sp>
        <p:nvSpPr>
          <p:cNvPr id="5" name="Text 5"/>
          <p:cNvSpPr txBox="1"/>
          <p:nvPr/>
        </p:nvSpPr>
        <p:spPr>
          <a:xfrm>
            <a:off x="620000" y="760000"/>
            <a:ext cx="11000000" cy="105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3600" b="1">
                <a:solidFill>
                  <a:srgbClr val="FFFFFF"/>
                </a:solidFill>
              </a:rPr>
              <a:t>Why Elastic MCP</a:t>
            </a:r>
          </a:p>
        </p:txBody>
      </p:sp>
      <p:pic>
        <p:nvPicPr>
          <p:cNvPr id="6" name="Picture 6"/>
          <p:cNvPicPr/>
          <p:nvPr/>
        </p:nvPicPr>
        <p:blipFill>
          <a:blip r:embed="rId3"/>
          <a:stretch>
            <a:fillRect/>
          </a:stretch>
        </p:blipFill>
        <p:spPr>
          <a:xfrm>
            <a:off x="880000" y="2400000"/>
            <a:ext cx="1150000" cy="1150000"/>
          </a:xfrm>
          <a:prstGeom prst="rect">
            <a:avLst/>
          </a:prstGeom>
        </p:spPr>
      </p:pic>
      <p:sp>
        <p:nvSpPr>
          <p:cNvPr id="7" name="Shape 7"/>
          <p:cNvSpPr/>
          <p:nvPr/>
        </p:nvSpPr>
        <p:spPr>
          <a:xfrm>
            <a:off x="2550000" y="2250000"/>
            <a:ext cx="3150000" cy="760000"/>
          </a:xfrm>
          <a:prstGeom prst="roundRect">
            <a:avLst/>
          </a:prstGeom>
          <a:solidFill>
            <a:srgbClr val="2D333A">
              <a:alpha val="98000"/>
            </a:srgbClr>
          </a:solidFill>
          <a:ln>
            <a:noFill/>
          </a:ln>
        </p:spPr>
      </p:sp>
      <p:sp>
        <p:nvSpPr>
          <p:cNvPr id="8" name="Text 8"/>
          <p:cNvSpPr txBox="1"/>
          <p:nvPr/>
        </p:nvSpPr>
        <p:spPr>
          <a:xfrm>
            <a:off x="2790000" y="2460000"/>
            <a:ext cx="2700000" cy="26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2000" b="1">
                <a:solidFill>
                  <a:srgbClr val="FFFFFF"/>
                </a:solidFill>
              </a:rPr>
              <a:t>SOPs</a:t>
            </a:r>
          </a:p>
        </p:txBody>
      </p:sp>
      <p:sp>
        <p:nvSpPr>
          <p:cNvPr id="9" name="Shape 9"/>
          <p:cNvSpPr/>
          <p:nvPr/>
        </p:nvSpPr>
        <p:spPr>
          <a:xfrm>
            <a:off x="6450000" y="2250000"/>
            <a:ext cx="3150000" cy="760000"/>
          </a:xfrm>
          <a:prstGeom prst="roundRect">
            <a:avLst/>
          </a:prstGeom>
          <a:solidFill>
            <a:srgbClr val="2D333A">
              <a:alpha val="98000"/>
            </a:srgbClr>
          </a:solidFill>
          <a:ln>
            <a:noFill/>
          </a:ln>
        </p:spPr>
      </p:sp>
      <p:sp>
        <p:nvSpPr>
          <p:cNvPr id="10" name="Text 10"/>
          <p:cNvSpPr txBox="1"/>
          <p:nvPr/>
        </p:nvSpPr>
        <p:spPr>
          <a:xfrm>
            <a:off x="6690000" y="2460000"/>
            <a:ext cx="2700000" cy="26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2000" b="1">
                <a:solidFill>
                  <a:srgbClr val="FFFFFF"/>
                </a:solidFill>
              </a:rPr>
              <a:t>Incident history</a:t>
            </a:r>
          </a:p>
        </p:txBody>
      </p:sp>
      <p:sp>
        <p:nvSpPr>
          <p:cNvPr id="11" name="Shape 11"/>
          <p:cNvSpPr/>
          <p:nvPr/>
        </p:nvSpPr>
        <p:spPr>
          <a:xfrm>
            <a:off x="2550000" y="3350000"/>
            <a:ext cx="3150000" cy="760000"/>
          </a:xfrm>
          <a:prstGeom prst="roundRect">
            <a:avLst/>
          </a:prstGeom>
          <a:solidFill>
            <a:srgbClr val="2D333A">
              <a:alpha val="98000"/>
            </a:srgbClr>
          </a:solidFill>
          <a:ln>
            <a:noFill/>
          </a:ln>
        </p:spPr>
      </p:sp>
      <p:sp>
        <p:nvSpPr>
          <p:cNvPr id="12" name="Text 12"/>
          <p:cNvSpPr txBox="1"/>
          <p:nvPr/>
        </p:nvSpPr>
        <p:spPr>
          <a:xfrm>
            <a:off x="2790000" y="3560000"/>
            <a:ext cx="2700000" cy="26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2000" b="1">
                <a:solidFill>
                  <a:srgbClr val="FFFFFF"/>
                </a:solidFill>
              </a:rPr>
              <a:t>Warning guidance</a:t>
            </a:r>
          </a:p>
        </p:txBody>
      </p:sp>
      <p:sp>
        <p:nvSpPr>
          <p:cNvPr id="13" name="Shape 13"/>
          <p:cNvSpPr/>
          <p:nvPr/>
        </p:nvSpPr>
        <p:spPr>
          <a:xfrm>
            <a:off x="6450000" y="3350000"/>
            <a:ext cx="3150000" cy="760000"/>
          </a:xfrm>
          <a:prstGeom prst="roundRect">
            <a:avLst/>
          </a:prstGeom>
          <a:solidFill>
            <a:srgbClr val="2D333A">
              <a:alpha val="98000"/>
            </a:srgbClr>
          </a:solidFill>
          <a:ln>
            <a:noFill/>
          </a:ln>
        </p:spPr>
      </p:sp>
      <p:sp>
        <p:nvSpPr>
          <p:cNvPr id="14" name="Text 14"/>
          <p:cNvSpPr txBox="1"/>
          <p:nvPr/>
        </p:nvSpPr>
        <p:spPr>
          <a:xfrm>
            <a:off x="6690000" y="3560000"/>
            <a:ext cx="2700000" cy="26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2000" b="1">
                <a:solidFill>
                  <a:srgbClr val="FFFFFF"/>
                </a:solidFill>
              </a:rPr>
              <a:t>Advisory templates</a:t>
            </a:r>
          </a:p>
        </p:txBody>
      </p:sp>
      <p:sp>
        <p:nvSpPr>
          <p:cNvPr id="15" name="Text 15"/>
          <p:cNvSpPr txBox="1"/>
          <p:nvPr/>
        </p:nvSpPr>
        <p:spPr>
          <a:xfrm>
            <a:off x="920000" y="3900000"/>
            <a:ext cx="1160000" cy="52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ctr"/>
            <a:r>
              <a:rPr lang="en-US" sz="1800" b="1">
                <a:solidFill>
                  <a:srgbClr val="F2B544"/>
                </a:solidFill>
              </a:rPr>
              <a:t>searchable</a:t>
            </a:r>
          </a:p>
          <a:p>
            <a:pPr algn="ctr"/>
            <a:r>
              <a:rPr lang="en-US" sz="1800" b="1">
                <a:solidFill>
                  <a:srgbClr val="F2B544"/>
                </a:solidFill>
              </a:rPr>
              <a:t>memory</a:t>
            </a:r>
          </a:p>
        </p:txBody>
      </p:sp>
      <p:sp>
        <p:nvSpPr>
          <p:cNvPr id="16" name="Text 16"/>
          <p:cNvSpPr txBox="1"/>
          <p:nvPr/>
        </p:nvSpPr>
        <p:spPr>
          <a:xfrm>
            <a:off x="11030000" y="6260000"/>
            <a:ext cx="600000" cy="22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r"/>
            <a:r>
              <a:rPr lang="en-US" sz="1100">
                <a:solidFill>
                  <a:srgbClr val="B8C0C7"/>
                </a:solidFill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>
              <a:alpha val="27000"/>
            </a:srgbClr>
          </a:solidFill>
          <a:ln>
            <a:noFill/>
          </a:ln>
        </p:spPr>
      </p:sp>
      <p:sp>
        <p:nvSpPr>
          <p:cNvPr id="4" name="Shape 4"/>
          <p:cNvSpPr/>
          <p:nvPr/>
        </p:nvSpPr>
        <p:spPr>
          <a:xfrm>
            <a:off x="0" y="0"/>
            <a:ext cx="12192000" cy="360000"/>
          </a:xfrm>
          <a:prstGeom prst="rect">
            <a:avLst/>
          </a:prstGeom>
          <a:solidFill>
            <a:srgbClr val="C9471A">
              <a:alpha val="100000"/>
            </a:srgbClr>
          </a:solidFill>
          <a:ln>
            <a:noFill/>
          </a:ln>
        </p:spPr>
      </p:sp>
      <p:sp>
        <p:nvSpPr>
          <p:cNvPr id="5" name="Text 5"/>
          <p:cNvSpPr txBox="1"/>
          <p:nvPr/>
        </p:nvSpPr>
        <p:spPr>
          <a:xfrm>
            <a:off x="420000" y="62000"/>
            <a:ext cx="1100000" cy="22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400" b="1">
                <a:solidFill>
                  <a:srgbClr val="FFFFFF"/>
                </a:solidFill>
              </a:rPr>
              <a:t>2:24</a:t>
            </a:r>
          </a:p>
        </p:txBody>
      </p:sp>
      <p:sp>
        <p:nvSpPr>
          <p:cNvPr id="6" name="Text 6"/>
          <p:cNvSpPr txBox="1"/>
          <p:nvPr/>
        </p:nvSpPr>
        <p:spPr>
          <a:xfrm>
            <a:off x="620000" y="760000"/>
            <a:ext cx="11000000" cy="105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3600" b="1">
                <a:solidFill>
                  <a:srgbClr val="FFFFFF"/>
                </a:solidFill>
              </a:rPr>
              <a:t>Demo flow</a:t>
            </a:r>
          </a:p>
        </p:txBody>
      </p:sp>
      <p:sp>
        <p:nvSpPr>
          <p:cNvPr id="7" name="Shape 7"/>
          <p:cNvSpPr/>
          <p:nvPr/>
        </p:nvSpPr>
        <p:spPr>
          <a:xfrm>
            <a:off x="770000" y="2650000"/>
            <a:ext cx="3330000" cy="620000"/>
          </a:xfrm>
          <a:prstGeom prst="roundRect">
            <a:avLst/>
          </a:prstGeom>
          <a:solidFill>
            <a:srgbClr val="F4F1EA">
              <a:alpha val="92000"/>
            </a:srgbClr>
          </a:solidFill>
          <a:ln>
            <a:noFill/>
          </a:ln>
        </p:spPr>
      </p:sp>
      <p:sp>
        <p:nvSpPr>
          <p:cNvPr id="8" name="Text 8"/>
          <p:cNvSpPr txBox="1"/>
          <p:nvPr/>
        </p:nvSpPr>
        <p:spPr>
          <a:xfrm>
            <a:off x="1010000" y="2815000"/>
            <a:ext cx="2860000" cy="24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2100" b="1">
                <a:solidFill>
                  <a:srgbClr val="1B1F23"/>
                </a:solidFill>
              </a:rPr>
              <a:t>Focus AOI</a:t>
            </a:r>
          </a:p>
        </p:txBody>
      </p:sp>
      <p:sp>
        <p:nvSpPr>
          <p:cNvPr id="9" name="Shape 9"/>
          <p:cNvSpPr/>
          <p:nvPr/>
        </p:nvSpPr>
        <p:spPr>
          <a:xfrm>
            <a:off x="770000" y="3470000"/>
            <a:ext cx="3330000" cy="620000"/>
          </a:xfrm>
          <a:prstGeom prst="roundRect">
            <a:avLst/>
          </a:prstGeom>
          <a:solidFill>
            <a:srgbClr val="F4F1EA">
              <a:alpha val="92000"/>
            </a:srgbClr>
          </a:solidFill>
          <a:ln>
            <a:noFill/>
          </a:ln>
        </p:spPr>
      </p:sp>
      <p:sp>
        <p:nvSpPr>
          <p:cNvPr id="10" name="Text 10"/>
          <p:cNvSpPr txBox="1"/>
          <p:nvPr/>
        </p:nvSpPr>
        <p:spPr>
          <a:xfrm>
            <a:off x="1010000" y="3635000"/>
            <a:ext cx="2860000" cy="24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2100" b="1">
                <a:solidFill>
                  <a:srgbClr val="1B1F23"/>
                </a:solidFill>
              </a:rPr>
              <a:t>Analyze report</a:t>
            </a:r>
          </a:p>
        </p:txBody>
      </p:sp>
      <p:sp>
        <p:nvSpPr>
          <p:cNvPr id="11" name="Shape 11"/>
          <p:cNvSpPr/>
          <p:nvPr/>
        </p:nvSpPr>
        <p:spPr>
          <a:xfrm>
            <a:off x="770000" y="4290000"/>
            <a:ext cx="3330000" cy="620000"/>
          </a:xfrm>
          <a:prstGeom prst="roundRect">
            <a:avLst/>
          </a:prstGeom>
          <a:solidFill>
            <a:srgbClr val="F4F1EA">
              <a:alpha val="92000"/>
            </a:srgbClr>
          </a:solidFill>
          <a:ln>
            <a:noFill/>
          </a:ln>
        </p:spPr>
      </p:sp>
      <p:sp>
        <p:nvSpPr>
          <p:cNvPr id="12" name="Text 12"/>
          <p:cNvSpPr txBox="1"/>
          <p:nvPr/>
        </p:nvSpPr>
        <p:spPr>
          <a:xfrm>
            <a:off x="1010000" y="4455000"/>
            <a:ext cx="2860000" cy="24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2100" b="1">
                <a:solidFill>
                  <a:srgbClr val="1B1F23"/>
                </a:solidFill>
              </a:rPr>
              <a:t>Run what-if</a:t>
            </a:r>
          </a:p>
        </p:txBody>
      </p:sp>
      <p:sp>
        <p:nvSpPr>
          <p:cNvPr id="13" name="Text 13"/>
          <p:cNvSpPr txBox="1"/>
          <p:nvPr/>
        </p:nvSpPr>
        <p:spPr>
          <a:xfrm>
            <a:off x="11030000" y="6260000"/>
            <a:ext cx="600000" cy="22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r"/>
            <a:r>
              <a:rPr lang="en-US" sz="1100">
                <a:solidFill>
                  <a:srgbClr val="B8C0C7"/>
                </a:solidFill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>
              <a:alpha val="27000"/>
            </a:srgbClr>
          </a:solidFill>
          <a:ln>
            <a:noFill/>
          </a:ln>
        </p:spPr>
      </p:sp>
      <p:sp>
        <p:nvSpPr>
          <p:cNvPr id="4" name="Shape 4"/>
          <p:cNvSpPr/>
          <p:nvPr/>
        </p:nvSpPr>
        <p:spPr>
          <a:xfrm>
            <a:off x="0" y="0"/>
            <a:ext cx="12192000" cy="360000"/>
          </a:xfrm>
          <a:prstGeom prst="rect">
            <a:avLst/>
          </a:prstGeom>
          <a:solidFill>
            <a:srgbClr val="C9471A">
              <a:alpha val="100000"/>
            </a:srgbClr>
          </a:solidFill>
          <a:ln>
            <a:noFill/>
          </a:ln>
        </p:spPr>
      </p:sp>
      <p:sp>
        <p:nvSpPr>
          <p:cNvPr id="5" name="Text 5"/>
          <p:cNvSpPr txBox="1"/>
          <p:nvPr/>
        </p:nvSpPr>
        <p:spPr>
          <a:xfrm>
            <a:off x="420000" y="62000"/>
            <a:ext cx="1100000" cy="22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400" b="1">
                <a:solidFill>
                  <a:srgbClr val="FFFFFF"/>
                </a:solidFill>
              </a:rPr>
              <a:t>2:53</a:t>
            </a:r>
          </a:p>
        </p:txBody>
      </p:sp>
      <p:sp>
        <p:nvSpPr>
          <p:cNvPr id="6" name="Text 6"/>
          <p:cNvSpPr txBox="1"/>
          <p:nvPr/>
        </p:nvSpPr>
        <p:spPr>
          <a:xfrm>
            <a:off x="620000" y="760000"/>
            <a:ext cx="11000000" cy="105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3600" b="1">
                <a:solidFill>
                  <a:srgbClr val="FFFFFF"/>
                </a:solidFill>
              </a:rPr>
              <a:t>Explainable action, faster</a:t>
            </a:r>
          </a:p>
        </p:txBody>
      </p:sp>
      <p:sp>
        <p:nvSpPr>
          <p:cNvPr id="7" name="Shape 7"/>
          <p:cNvSpPr/>
          <p:nvPr/>
        </p:nvSpPr>
        <p:spPr>
          <a:xfrm>
            <a:off x="770000" y="2650000"/>
            <a:ext cx="3330000" cy="620000"/>
          </a:xfrm>
          <a:prstGeom prst="roundRect">
            <a:avLst/>
          </a:prstGeom>
          <a:solidFill>
            <a:srgbClr val="F4F1EA">
              <a:alpha val="92000"/>
            </a:srgbClr>
          </a:solidFill>
          <a:ln>
            <a:noFill/>
          </a:ln>
        </p:spPr>
      </p:sp>
      <p:sp>
        <p:nvSpPr>
          <p:cNvPr id="8" name="Text 8"/>
          <p:cNvSpPr txBox="1"/>
          <p:nvPr/>
        </p:nvSpPr>
        <p:spPr>
          <a:xfrm>
            <a:off x="1010000" y="2815000"/>
            <a:ext cx="2860000" cy="24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2100" b="1">
                <a:solidFill>
                  <a:srgbClr val="1B1F23"/>
                </a:solidFill>
              </a:rPr>
              <a:t>Situational awareness</a:t>
            </a:r>
          </a:p>
        </p:txBody>
      </p:sp>
      <p:sp>
        <p:nvSpPr>
          <p:cNvPr id="9" name="Shape 9"/>
          <p:cNvSpPr/>
          <p:nvPr/>
        </p:nvSpPr>
        <p:spPr>
          <a:xfrm>
            <a:off x="770000" y="3470000"/>
            <a:ext cx="3330000" cy="620000"/>
          </a:xfrm>
          <a:prstGeom prst="roundRect">
            <a:avLst/>
          </a:prstGeom>
          <a:solidFill>
            <a:srgbClr val="F4F1EA">
              <a:alpha val="92000"/>
            </a:srgbClr>
          </a:solidFill>
          <a:ln>
            <a:noFill/>
          </a:ln>
        </p:spPr>
      </p:sp>
      <p:sp>
        <p:nvSpPr>
          <p:cNvPr id="10" name="Text 10"/>
          <p:cNvSpPr txBox="1"/>
          <p:nvPr/>
        </p:nvSpPr>
        <p:spPr>
          <a:xfrm>
            <a:off x="1010000" y="3635000"/>
            <a:ext cx="2860000" cy="24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2100" b="1">
                <a:solidFill>
                  <a:srgbClr val="1B1F23"/>
                </a:solidFill>
              </a:rPr>
              <a:t>Risk reasoning</a:t>
            </a:r>
          </a:p>
        </p:txBody>
      </p:sp>
      <p:sp>
        <p:nvSpPr>
          <p:cNvPr id="11" name="Shape 11"/>
          <p:cNvSpPr/>
          <p:nvPr/>
        </p:nvSpPr>
        <p:spPr>
          <a:xfrm>
            <a:off x="770000" y="4290000"/>
            <a:ext cx="3330000" cy="620000"/>
          </a:xfrm>
          <a:prstGeom prst="roundRect">
            <a:avLst/>
          </a:prstGeom>
          <a:solidFill>
            <a:srgbClr val="F4F1EA">
              <a:alpha val="92000"/>
            </a:srgbClr>
          </a:solidFill>
          <a:ln>
            <a:noFill/>
          </a:ln>
        </p:spPr>
      </p:sp>
      <p:sp>
        <p:nvSpPr>
          <p:cNvPr id="12" name="Text 12"/>
          <p:cNvSpPr txBox="1"/>
          <p:nvPr/>
        </p:nvSpPr>
        <p:spPr>
          <a:xfrm>
            <a:off x="1010000" y="4455000"/>
            <a:ext cx="2860000" cy="24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2100" b="1">
                <a:solidFill>
                  <a:srgbClr val="1B1F23"/>
                </a:solidFill>
              </a:rPr>
              <a:t>Human approval</a:t>
            </a:r>
          </a:p>
        </p:txBody>
      </p:sp>
      <p:sp>
        <p:nvSpPr>
          <p:cNvPr id="13" name="Text 13"/>
          <p:cNvSpPr txBox="1"/>
          <p:nvPr/>
        </p:nvSpPr>
        <p:spPr>
          <a:xfrm>
            <a:off x="11030000" y="6260000"/>
            <a:ext cx="600000" cy="22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r"/>
            <a:r>
              <a:rPr lang="en-US" sz="1100">
                <a:solidFill>
                  <a:srgbClr val="B8C0C7"/>
                </a:solidFill>
              </a:rP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ildfire Ops">
  <a:themeElements>
    <a:clrScheme name="Wildfire">
      <a:dk1>
        <a:srgbClr val="11161C"/>
      </a:dk1>
      <a:lt1>
        <a:srgbClr val="FFFFFF"/>
      </a:lt1>
      <a:dk2>
        <a:srgbClr val="2D333A"/>
      </a:dk2>
      <a:lt2>
        <a:srgbClr val="F4F1EA"/>
      </a:lt2>
      <a:accent1>
        <a:srgbClr val="C9471A"/>
      </a:accent1>
      <a:accent2>
        <a:srgbClr val="F2B544"/>
      </a:accent2>
      <a:accent3>
        <a:srgbClr val="3BA776"/>
      </a:accent3>
      <a:accent4>
        <a:srgbClr val="4D8DFF"/>
      </a:accent4>
      <a:accent5>
        <a:srgbClr val="8E6AD8"/>
      </a:accent5>
      <a:accent6>
        <a:srgbClr val="E56B6F"/>
      </a:accent6>
      <a:hlink>
        <a:srgbClr val="4D8DFF"/>
      </a:hlink>
      <a:folHlink>
        <a:srgbClr val="8E6AD8"/>
      </a:folHlink>
    </a:clrScheme>
    <a:fontScheme name="Office">
      <a:majorFont>
        <a:latin typeface="Aptos Display"/>
      </a:majorFont>
      <a:minorFont>
        <a:latin typeface="Aptos"/>
      </a:minorFont>
    </a:fontScheme>
    <a:fmtScheme name="Office">
      <a:fillStyleLst>
        <a:solidFill>
          <a:schemeClr val="phClr"/>
        </a:solidFill>
      </a:fillStyleLst>
      <a:lnStyleLst>
        <a:ln w="6350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Codex</Application>
  <PresentationFormat>On-screen Show (16:9)</PresentationFormat>
  <Slides>10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Wildfire Ops Copilot Visual Demo Deck</dc:title>
  <dc:creator>Codex</dc:creator>
  <cp:lastModifiedBy>Codex</cp:lastModifiedBy>
  <dcterms:created xsi:type="dcterms:W3CDTF">2026-06-11T16:14:13+00:00</dcterms:created>
  <dcterms:modified xsi:type="dcterms:W3CDTF">2026-06-11T16:14:13+00:00</dcterms:modified>
</cp:coreProperties>
</file>